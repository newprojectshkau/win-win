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建議架構，並非已建成系統。資料與設定經驗證後送入重播時鐘及策略核心；箭嘴為簡化流程。根據 docs/G3-simulator-plan.md 及三份審閱。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建議分工：策略負責人批准規則；開發者建置及測試；量化審閱者獨立核對手算；資料負責人確認授權及資料時點。可先以人造案例搭骨架，但不代表 G2 或完整歷史驗收已通過。原路線圖日期不作新承諾。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核對依據：docs/G3-checklist-01-source-audit-zh-HK.md。逐字稿01與02位於 imports/AL-briefing-01/。01：01 00:09:31、00:10:51–00:12:21；02 00:00:33、00:07:04–00:08:17。02：01 00:00:56–00:01:25；02 00:02:42–00:03:20、00:05:01–00:05:10；午市13:00補自圖5。03：01 00:11:22–00:11:49；02 00:03:13–00:03:20、00:05:10–00:05:30；圖2。04：01 00:04:13–00:05:56；02 00:06:16–00:07:19。05：01 00:01:32–00:02:48；圖1。06：01 00:01:25–00:01:32、00:03:55。07：已檢視來源未有完整政策，不是宣稱用戶從未定義。08：01 00:09:04–00:10:57、00:13:41–00:16:03、00:18:37；圖3。不以舊稿建議或 compare.py 假設代替策略批准。briefing digest 01c 的 chatgpt.com/local 連結尚未能讀取。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策略時間以紐約為準：前日早市 09:30–12:30、午市 12:30–16:00；當日觀察 09:30–10:00 及 12:30–13:00；初始價 10:00 及 13:00；清倉 12:30 及 16:00。端點和半日市仍待決定。B 是門檻事件數，R 是方向轉換數，h 是持倉反向確認數，三者不可混淆。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詳列約束依據：docs/G3-simulator-plan.md、docs/reviews/G3-trading-review.md、G3-engineering-review.md、G3-investor-review.md。核心四星期估算不含採購、真實券商限制、所有策略變體及完整介面。審閱屬代理分析，並非專業人士背書。程式測試通過不可代替策略負責人及獨立核對者簽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78992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87C83"/>
                </a:solidFill>
                <a:latin typeface="Noto Sans CJK TC"/>
              </a:defRPr>
            </a:pPr>
            <a:r>
              <a:t>WIN-WIN  ／  G3 模擬引擎・開工前審閱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47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3443"/>
                </a:solidFill>
                <a:latin typeface="Noto Sans CJK TC"/>
              </a:defRPr>
            </a:pPr>
            <a:r>
              <a:t>引擎架構：同一套策略核心，逐層分開驗證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15568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26874"/>
                </a:solidFill>
                <a:latin typeface="Noto Sans CJK TC"/>
              </a:defRPr>
            </a:pPr>
            <a:r>
              <a:t>建議架構｜首版採離線歷史重播；雲端及本機使用相同策略邏輯。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28232"/>
            <a:ext cx="11247120" cy="13716"/>
          </a:xfrm>
          <a:prstGeom prst="rect">
            <a:avLst/>
          </a:prstGeom>
          <a:solidFill>
            <a:srgbClr val="D7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698480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6874"/>
                </a:solidFill>
                <a:latin typeface="Noto Sans CJK TC"/>
              </a:defRPr>
            </a:pPr>
            <a:r>
              <a:t>依據：v3、G3 計劃及原始來源核對｜修訂版・2026 年 10 月 29 日｜引擎尚未建成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3096"/>
            <a:ext cx="4572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87C83"/>
                </a:solidFill>
                <a:latin typeface="Noto Sans CJK TC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56231"/>
            <a:ext cx="35204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975103"/>
            <a:ext cx="3227832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歷史資料及交易日曆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386584"/>
            <a:ext cx="3227832" cy="4389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分鐘價、歷史股票池、市值、公司行動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856231"/>
            <a:ext cx="35204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75103"/>
            <a:ext cx="3227832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資料驗證及重播時鐘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386584"/>
            <a:ext cx="3227832" cy="4389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只釋出當時已知資料；順序固定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856231"/>
            <a:ext cx="35204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975103"/>
            <a:ext cx="3227832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已批准規則及參數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386584"/>
            <a:ext cx="3227832" cy="4389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驗證完整性；每次運行鎖定版本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95928" y="2368296"/>
            <a:ext cx="256032" cy="0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4178808" y="2304288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7900416" y="2368296"/>
            <a:ext cx="219456" cy="0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 rot="10800000">
            <a:off x="7827264" y="2304288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080760" y="2880360"/>
            <a:ext cx="0" cy="484632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 rot="5400000">
            <a:off x="6007608" y="3300984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7C83"/>
                </a:solidFill>
                <a:latin typeface="Noto Sans CJK TC"/>
              </a:defRPr>
            </a:pPr>
            <a:r>
              <a:t>五階段策略核心　｜　不直接連接券商、網絡或介面狀態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747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11880"/>
            <a:ext cx="192024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87C83"/>
                </a:solidFill>
                <a:latin typeface="Noto Sans CJK TC"/>
              </a:defRPr>
            </a:pPr>
            <a:r>
              <a:t>① 股票池篩選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05072"/>
            <a:ext cx="192024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過去 20 日四項條件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78608" y="3931920"/>
            <a:ext cx="128016" cy="0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evron 27"/>
          <p:cNvSpPr/>
          <p:nvPr/>
        </p:nvSpPr>
        <p:spPr>
          <a:xfrm>
            <a:off x="2633472" y="3867911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34747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611880"/>
            <a:ext cx="192024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87C83"/>
                </a:solidFill>
                <a:latin typeface="Noto Sans CJK TC"/>
              </a:defRPr>
            </a:pPr>
            <a:r>
              <a:t>② 分時段揀股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005072"/>
            <a:ext cx="192024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前日早／午市獨立排名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64608" y="3931920"/>
            <a:ext cx="128016" cy="0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hevron 32"/>
          <p:cNvSpPr/>
          <p:nvPr/>
        </p:nvSpPr>
        <p:spPr>
          <a:xfrm>
            <a:off x="4919472" y="3867911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0" y="34747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3611880"/>
            <a:ext cx="192024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87C83"/>
                </a:solidFill>
                <a:latin typeface="Noto Sans CJK TC"/>
              </a:defRPr>
            </a:pPr>
            <a:r>
              <a:t>③ 配注及組合值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005072"/>
            <a:ext cx="192024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整數股數；組合 RR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50608" y="3931920"/>
            <a:ext cx="128016" cy="0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evron 37"/>
          <p:cNvSpPr/>
          <p:nvPr/>
        </p:nvSpPr>
        <p:spPr>
          <a:xfrm>
            <a:off x="7205472" y="3867911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0" y="34747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3611880"/>
            <a:ext cx="192024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87C83"/>
                </a:solidFill>
                <a:latin typeface="Noto Sans CJK TC"/>
              </a:defRPr>
            </a:pPr>
            <a:r>
              <a:t>④ 整段交易開關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005072"/>
            <a:ext cx="192024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當日觀察對前日基準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436608" y="3931920"/>
            <a:ext cx="128016" cy="0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evron 42"/>
          <p:cNvSpPr/>
          <p:nvPr/>
        </p:nvSpPr>
        <p:spPr>
          <a:xfrm>
            <a:off x="9491472" y="3867911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601200" y="34747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3611880"/>
            <a:ext cx="192024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87C83"/>
                </a:solidFill>
                <a:latin typeface="Noto Sans CJK TC"/>
              </a:defRPr>
            </a:pPr>
            <a:r>
              <a:t>⑤ 逐股持倉狀態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4005072"/>
            <a:ext cx="192024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等首訊號、持有、反手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652760" y="4407408"/>
            <a:ext cx="0" cy="137160"/>
          </a:xfrm>
          <a:prstGeom prst="line">
            <a:avLst/>
          </a:prstGeom>
          <a:ln w="1905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2194560" y="4544568"/>
            <a:ext cx="8458200" cy="0"/>
          </a:xfrm>
          <a:prstGeom prst="line">
            <a:avLst/>
          </a:prstGeom>
          <a:ln w="1905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194560" y="4544568"/>
            <a:ext cx="0" cy="118872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hevron 49"/>
          <p:cNvSpPr/>
          <p:nvPr/>
        </p:nvSpPr>
        <p:spPr>
          <a:xfrm rot="5400000">
            <a:off x="2121408" y="4599431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3995928" y="5276088"/>
            <a:ext cx="256032" cy="0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hevron 51"/>
          <p:cNvSpPr/>
          <p:nvPr/>
        </p:nvSpPr>
        <p:spPr>
          <a:xfrm>
            <a:off x="4178808" y="5212079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863840" y="5276088"/>
            <a:ext cx="256032" cy="0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hevron 53"/>
          <p:cNvSpPr/>
          <p:nvPr/>
        </p:nvSpPr>
        <p:spPr>
          <a:xfrm>
            <a:off x="8046720" y="5212079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57200" y="4709160"/>
            <a:ext cx="35204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" y="4828032"/>
            <a:ext cx="3227832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模擬成交層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" y="5239512"/>
            <a:ext cx="3227832" cy="5760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訊號 → 訂單意圖 → 成交 → 持倉</a:t>
            </a:r>
          </a:p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建議首版理想化；限制及成本須列明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25112" y="4709160"/>
            <a:ext cx="35204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71416" y="4828032"/>
            <a:ext cx="3227832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核對及追溯層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71416" y="5239512"/>
            <a:ext cx="3227832" cy="5760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五階段輸出、逐筆紀錄、現金／持倉</a:t>
            </a:r>
          </a:p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鎖定資料、規則及程式版本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93024" y="4709160"/>
            <a:ext cx="35204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9328" y="4828032"/>
            <a:ext cx="3227832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建議瀏覽器審閱介面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328" y="5239512"/>
            <a:ext cx="3227832" cy="5760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設定 → 核對 → 重播 → 比較／匯出</a:t>
            </a:r>
          </a:p>
          <a:p>
            <a:pPr>
              <a:spcAft>
                <a:spcPts val="400"/>
              </a:spcAft>
              <a:defRPr sz="1200" b="0">
                <a:solidFill>
                  <a:srgbClr val="173443"/>
                </a:solidFill>
                <a:latin typeface="Noto Sans CJK TC"/>
              </a:defRPr>
            </a:pPr>
            <a:r>
              <a:t>介面另估工期；不含實盤落盤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0352" y="6044184"/>
            <a:ext cx="110642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6874"/>
                </a:solidFill>
                <a:latin typeface="Noto Sans CJK TC"/>
              </a:defRPr>
            </a:pPr>
            <a:r>
              <a:t>核心產生決策，由模擬層回報成交；所有層保留追溯紀錄。券商接駁及實盤屬後續階段。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78992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87C83"/>
                </a:solidFill>
                <a:latin typeface="Noto Sans CJK TC"/>
              </a:defRPr>
            </a:pPr>
            <a:r>
              <a:t>WIN-WIN  ／  G3 模擬引擎・開工前審閱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47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3443"/>
                </a:solidFill>
                <a:latin typeface="Noto Sans CJK TC"/>
              </a:defRPr>
            </a:pPr>
            <a:r>
              <a:t>完成路線：先定規則及資料，再驗證模擬器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15568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26874"/>
                </a:solidFill>
                <a:latin typeface="Noto Sans CJK TC"/>
              </a:defRPr>
            </a:pPr>
            <a:r>
              <a:t>目前已有策略框架；只補齊未決細節及資料。01c 對話未取得，不代表當中沒有答案。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28232"/>
            <a:ext cx="11247120" cy="13716"/>
          </a:xfrm>
          <a:prstGeom prst="rect">
            <a:avLst/>
          </a:prstGeom>
          <a:solidFill>
            <a:srgbClr val="D7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698480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6874"/>
                </a:solidFill>
                <a:latin typeface="Noto Sans CJK TC"/>
              </a:defRPr>
            </a:pPr>
            <a:r>
              <a:t>依據：v3、G3 計劃及原始來源核對｜修訂版・2026 年 10 月 29 日｜引擎尚未建成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3096"/>
            <a:ext cx="4572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87C83"/>
                </a:solidFill>
                <a:latin typeface="Noto Sans CJK TC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1031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182880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87C83"/>
                </a:solidFill>
                <a:latin typeface="Noto Sans CJK TC"/>
              </a:defRPr>
            </a:pPr>
            <a:r>
              <a:t>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828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443"/>
                </a:solidFill>
                <a:latin typeface="Noto Sans CJK TC"/>
              </a:defRPr>
            </a:pPr>
            <a:r>
              <a:t>規則定稿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64408"/>
            <a:ext cx="182880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26874"/>
                </a:solidFill>
                <a:latin typeface="Noto Sans CJK TC"/>
              </a:defRPr>
            </a:pPr>
            <a:r>
              <a:t>沿用已確認策略</a:t>
            </a:r>
          </a:p>
          <a:p>
            <a:pPr>
              <a:spcAft>
                <a:spcPts val="400"/>
              </a:spcAft>
              <a:defRPr sz="1300" b="0">
                <a:solidFill>
                  <a:srgbClr val="526874"/>
                </a:solidFill>
                <a:latin typeface="Noto Sans CJK TC"/>
              </a:defRPr>
            </a:pPr>
            <a:r>
              <a:t>補齊細節及手算答案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2971800"/>
            <a:ext cx="128016" cy="0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2633472" y="2907792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2103120"/>
            <a:ext cx="21031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240280"/>
            <a:ext cx="182880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87C83"/>
                </a:solidFill>
                <a:latin typeface="Noto Sans CJK TC"/>
              </a:defRPr>
            </a:pPr>
            <a:r>
              <a:t>G2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24912"/>
            <a:ext cx="1828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443"/>
                </a:solidFill>
                <a:latin typeface="Noto Sans CJK TC"/>
              </a:defRPr>
            </a:pPr>
            <a:r>
              <a:t>資料就緒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264408"/>
            <a:ext cx="182880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26874"/>
                </a:solidFill>
                <a:latin typeface="Noto Sans CJK TC"/>
              </a:defRPr>
            </a:pPr>
            <a:r>
              <a:t>前日及完整回看期</a:t>
            </a:r>
          </a:p>
          <a:p>
            <a:pPr>
              <a:spcAft>
                <a:spcPts val="400"/>
              </a:spcAft>
              <a:defRPr sz="1300" b="0">
                <a:solidFill>
                  <a:srgbClr val="526874"/>
                </a:solidFill>
                <a:latin typeface="Noto Sans CJK TC"/>
              </a:defRPr>
            </a:pPr>
            <a:r>
              <a:t>時點、授權及缺漏核對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64608" y="2971800"/>
            <a:ext cx="128016" cy="0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>
            <a:off x="4919472" y="2907792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0" y="2103120"/>
            <a:ext cx="21031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240280"/>
            <a:ext cx="182880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87C83"/>
                </a:solidFill>
                <a:latin typeface="Noto Sans CJK TC"/>
              </a:defRPr>
            </a:pPr>
            <a:r>
              <a:t>G3・甲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724912"/>
            <a:ext cx="1828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443"/>
                </a:solidFill>
                <a:latin typeface="Noto Sans CJK TC"/>
              </a:defRPr>
            </a:pPr>
            <a:r>
              <a:t>重播及階段①–③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264408"/>
            <a:ext cx="182880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26874"/>
                </a:solidFill>
                <a:latin typeface="Noto Sans CJK TC"/>
              </a:defRPr>
            </a:pPr>
            <a:r>
              <a:t>時鐘、Renko 計數</a:t>
            </a:r>
          </a:p>
          <a:p>
            <a:pPr>
              <a:spcAft>
                <a:spcPts val="400"/>
              </a:spcAft>
              <a:defRPr sz="1300" b="0">
                <a:solidFill>
                  <a:srgbClr val="526874"/>
                </a:solidFill>
                <a:latin typeface="Noto Sans CJK TC"/>
              </a:defRPr>
            </a:pPr>
            <a:r>
              <a:t>股票池、排名、配注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50608" y="2971800"/>
            <a:ext cx="128016" cy="0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evron 24"/>
          <p:cNvSpPr/>
          <p:nvPr/>
        </p:nvSpPr>
        <p:spPr>
          <a:xfrm>
            <a:off x="7205472" y="2907792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0" y="2103120"/>
            <a:ext cx="21031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240280"/>
            <a:ext cx="182880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87C83"/>
                </a:solidFill>
                <a:latin typeface="Noto Sans CJK TC"/>
              </a:defRPr>
            </a:pPr>
            <a:r>
              <a:t>G3・乙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724912"/>
            <a:ext cx="1828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443"/>
                </a:solidFill>
                <a:latin typeface="Noto Sans CJK TC"/>
              </a:defRPr>
            </a:pPr>
            <a:r>
              <a:t>階段④–⑤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264408"/>
            <a:ext cx="182880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26874"/>
                </a:solidFill>
                <a:latin typeface="Noto Sans CJK TC"/>
              </a:defRPr>
            </a:pPr>
            <a:r>
              <a:t>整段開關、逐股狀態</a:t>
            </a:r>
          </a:p>
          <a:p>
            <a:pPr>
              <a:spcAft>
                <a:spcPts val="400"/>
              </a:spcAft>
              <a:defRPr sz="1300" b="0">
                <a:solidFill>
                  <a:srgbClr val="526874"/>
                </a:solidFill>
                <a:latin typeface="Noto Sans CJK TC"/>
              </a:defRPr>
            </a:pPr>
            <a:r>
              <a:t>成交模型及追溯紀錄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36608" y="2971800"/>
            <a:ext cx="128016" cy="0"/>
          </a:xfrm>
          <a:prstGeom prst="line">
            <a:avLst/>
          </a:prstGeom>
          <a:ln w="25400">
            <a:solidFill>
              <a:srgbClr val="08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evron 30"/>
          <p:cNvSpPr/>
          <p:nvPr/>
        </p:nvSpPr>
        <p:spPr>
          <a:xfrm>
            <a:off x="9491472" y="2907792"/>
            <a:ext cx="128016" cy="128016"/>
          </a:xfrm>
          <a:prstGeom prst="chevron">
            <a:avLst/>
          </a:prstGeom>
          <a:solidFill>
            <a:srgbClr val="08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0" y="2103120"/>
            <a:ext cx="21031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2240280"/>
            <a:ext cx="182880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87C83"/>
                </a:solidFill>
                <a:latin typeface="Noto Sans CJK TC"/>
              </a:defRPr>
            </a:pPr>
            <a:r>
              <a:t>G3・驗收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2724912"/>
            <a:ext cx="1828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73443"/>
                </a:solidFill>
                <a:latin typeface="Noto Sans CJK TC"/>
              </a:defRPr>
            </a:pPr>
            <a:r>
              <a:t>正確性通過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3264408"/>
            <a:ext cx="182880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26874"/>
                </a:solidFill>
                <a:latin typeface="Noto Sans CJK TC"/>
              </a:defRPr>
            </a:pPr>
            <a:r>
              <a:t>手算一致、可重現</a:t>
            </a:r>
          </a:p>
          <a:p>
            <a:pPr>
              <a:spcAft>
                <a:spcPts val="400"/>
              </a:spcAft>
              <a:defRPr sz="1300" b="0">
                <a:solidFill>
                  <a:srgbClr val="526874"/>
                </a:solidFill>
                <a:latin typeface="Noto Sans CJK TC"/>
              </a:defRPr>
            </a:pPr>
            <a:r>
              <a:t>無偷用未來資料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206240"/>
            <a:ext cx="1097280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87C83"/>
                </a:solidFill>
                <a:latin typeface="Noto Sans CJK TC"/>
              </a:defRPr>
            </a:pPr>
            <a:r>
              <a:t>其後關卡（不屬今次 G3 建置範圍）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81728"/>
            <a:ext cx="2697480" cy="576072"/>
          </a:xfrm>
          <a:prstGeom prst="roundRect">
            <a:avLst>
              <a:gd name="adj" fmla="val 12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846320"/>
            <a:ext cx="25146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3443"/>
                </a:solidFill>
                <a:latin typeface="Noto Sans CJK TC"/>
              </a:defRPr>
            </a:pPr>
            <a:r>
              <a:t>G4　盈利、成本及回撤驗證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10128" y="4681728"/>
            <a:ext cx="2697480" cy="576072"/>
          </a:xfrm>
          <a:prstGeom prst="roundRect">
            <a:avLst>
              <a:gd name="adj" fmla="val 12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1568" y="4846320"/>
            <a:ext cx="25146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3443"/>
                </a:solidFill>
                <a:latin typeface="Noto Sans CJK TC"/>
              </a:defRPr>
            </a:pPr>
            <a:r>
              <a:t>G5　真實引擎及券商接駁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3056" y="4681728"/>
            <a:ext cx="2697480" cy="576072"/>
          </a:xfrm>
          <a:prstGeom prst="roundRect">
            <a:avLst>
              <a:gd name="adj" fmla="val 12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4496" y="4846320"/>
            <a:ext cx="25146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3443"/>
                </a:solidFill>
                <a:latin typeface="Noto Sans CJK TC"/>
              </a:defRPr>
            </a:pPr>
            <a:r>
              <a:t>G6　模擬賬戶交易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15984" y="4681728"/>
            <a:ext cx="2697480" cy="576072"/>
          </a:xfrm>
          <a:prstGeom prst="roundRect">
            <a:avLst>
              <a:gd name="adj" fmla="val 12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07424" y="4846320"/>
            <a:ext cx="25146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3443"/>
                </a:solidFill>
                <a:latin typeface="Noto Sans CJK TC"/>
              </a:defRPr>
            </a:pPr>
            <a:r>
              <a:t>G7–G8　小額實盤及加倉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513832"/>
            <a:ext cx="11247120" cy="685800"/>
          </a:xfrm>
          <a:prstGeom prst="roundRect">
            <a:avLst>
              <a:gd name="adj" fmla="val 12000"/>
            </a:avLst>
          </a:prstGeom>
          <a:solidFill>
            <a:srgbClr val="173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623560"/>
            <a:ext cx="2468880" cy="42062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TC"/>
              </a:defRPr>
            </a:pPr>
            <a:r>
              <a:t>核心暫估四個開發星期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5641848"/>
            <a:ext cx="832104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Noto Sans CJK TC"/>
              </a:defRPr>
            </a:pPr>
            <a:r>
              <a:t>規則及資料到位後起計；不含資料採購、真實券商限制及完整介面。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78992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87C83"/>
                </a:solidFill>
                <a:latin typeface="Noto Sans CJK TC"/>
              </a:defRPr>
            </a:pPr>
            <a:r>
              <a:t>WIN-WIN  ／  G3 模擬引擎・開工前審閱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47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3443"/>
                </a:solidFill>
                <a:latin typeface="Noto Sans CJK TC"/>
              </a:defRPr>
            </a:pPr>
            <a:r>
              <a:t>清單（一）：已有設定與尚欠細節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15568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26874"/>
                </a:solidFill>
                <a:latin typeface="Noto Sans CJK TC"/>
              </a:defRPr>
            </a:pPr>
            <a:r>
              <a:t>沿用有證據的設定，只處理餘下問題；「未找到」只適用於已檢視的來源。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28232"/>
            <a:ext cx="11247120" cy="13716"/>
          </a:xfrm>
          <a:prstGeom prst="rect">
            <a:avLst/>
          </a:prstGeom>
          <a:solidFill>
            <a:srgbClr val="D7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698480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6874"/>
                </a:solidFill>
                <a:latin typeface="Noto Sans CJK TC"/>
              </a:defRPr>
            </a:pPr>
            <a:r>
              <a:t>依據：v3、G3 計劃及原始來源核對｜修訂版・2026 年 10 月 29 日｜引擎尚未建成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3096"/>
            <a:ext cx="4572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87C83"/>
                </a:solidFill>
                <a:latin typeface="Noto Sans CJK TC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19656"/>
            <a:ext cx="1737360" cy="274320"/>
          </a:xfrm>
          <a:prstGeom prst="rect">
            <a:avLst/>
          </a:prstGeom>
          <a:solidFill>
            <a:srgbClr val="173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847088"/>
            <a:ext cx="1591056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TC"/>
              </a:defRPr>
            </a:pPr>
            <a:r>
              <a:t>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19656"/>
            <a:ext cx="3657600" cy="274320"/>
          </a:xfrm>
          <a:prstGeom prst="rect">
            <a:avLst/>
          </a:prstGeom>
          <a:solidFill>
            <a:srgbClr val="173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1847088"/>
            <a:ext cx="3511296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TC"/>
              </a:defRPr>
            </a:pPr>
            <a:r>
              <a:t>已有設定｜不用重新決定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819656"/>
            <a:ext cx="5852160" cy="274320"/>
          </a:xfrm>
          <a:prstGeom prst="rect">
            <a:avLst/>
          </a:prstGeom>
          <a:solidFill>
            <a:srgbClr val="173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5312" y="1847088"/>
            <a:ext cx="5705856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TC"/>
              </a:defRPr>
            </a:pPr>
            <a:r>
              <a:t>待補細節／交付選擇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21408"/>
            <a:ext cx="11247120" cy="4617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2221991"/>
            <a:ext cx="1609344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3443"/>
                </a:solidFill>
                <a:latin typeface="Noto Sans CJK TC"/>
              </a:defRPr>
            </a:pPr>
            <a:r>
              <a:t>01 首版範圍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2144268"/>
            <a:ext cx="3493008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早／午市、h＝1、開關可移除；</a:t>
            </a:r>
          </a:p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美元門檻及百分比選項已有要求。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2144268"/>
            <a:ext cx="566928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只批准首版交付分期；「先做一種模式」是工程建議，</a:t>
            </a:r>
          </a:p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不是重問策略方向。h＝2／3 仍須完整規則。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10612"/>
            <a:ext cx="11247120" cy="461772"/>
          </a:xfrm>
          <a:prstGeom prst="rect">
            <a:avLst/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711196"/>
            <a:ext cx="1609344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3443"/>
                </a:solidFill>
                <a:latin typeface="Noto Sans CJK TC"/>
              </a:defRPr>
            </a:pPr>
            <a:r>
              <a:t>02 用價及時間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2633472"/>
            <a:ext cx="3493008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每分鐘一次；上午 10:00 記初始價；</a:t>
            </a:r>
          </a:p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首事件以該初始價作基準。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2633472"/>
            <a:ext cx="566928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補取價欄位、時間標籤及資料何時可用；</a:t>
            </a:r>
          </a:p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10:00 記價不等於可用該分鐘尚未完成的收市價。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99815"/>
            <a:ext cx="11247120" cy="4617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3200399"/>
            <a:ext cx="1609344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3443"/>
                </a:solidFill>
                <a:latin typeface="Noto Sans CJK TC"/>
              </a:defRPr>
            </a:pPr>
            <a:r>
              <a:t>03 門檻及錨點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3122675"/>
            <a:ext cx="3493008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起點 0.5%；開市價換算固定美元；</a:t>
            </a:r>
          </a:p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首事件錨點已有定義。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5312" y="3122675"/>
            <a:ext cx="566928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補開市參考時點、後續錨點、窗口重設、等號；</a:t>
            </a:r>
          </a:p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百分比計法有討論，但複利公式仍須統一。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89020"/>
            <a:ext cx="11247120" cy="461772"/>
          </a:xfrm>
          <a:prstGeom prst="rect">
            <a:avLst/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3689604"/>
            <a:ext cx="1609344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3443"/>
                </a:solidFill>
                <a:latin typeface="Noto Sans CJK TC"/>
              </a:defRPr>
            </a:pPr>
            <a:r>
              <a:t>04 B／R 計數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3611879"/>
            <a:ext cx="3493008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B：價格變動門檻事件；</a:t>
            </a:r>
          </a:p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R：升轉跌／跌轉升。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3611879"/>
            <a:ext cx="566928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補一分鐘跨多級計幾次、首事件及統計窗口邊界；</a:t>
            </a:r>
          </a:p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分開事件數與同分鐘可執行的交易動作數。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78224"/>
            <a:ext cx="11247120" cy="4617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4178808"/>
            <a:ext cx="1609344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3443"/>
                </a:solidFill>
                <a:latin typeface="Noto Sans CJK TC"/>
              </a:defRPr>
            </a:pPr>
            <a:r>
              <a:t>05 股票池計算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67712" y="4101084"/>
            <a:ext cx="3493008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20 日平均及四項數值已有；</a:t>
            </a:r>
          </a:p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波幅分子為最高價減最低價。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101084"/>
            <a:ext cx="566928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只補交易日／曆日、平均取價、波幅分母及平均法；</a:t>
            </a:r>
          </a:p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價格上下限端點與回看不足亦須有規則。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567428"/>
            <a:ext cx="11247120" cy="461772"/>
          </a:xfrm>
          <a:prstGeom prst="rect">
            <a:avLst/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4668012"/>
            <a:ext cx="1609344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3443"/>
                </a:solidFill>
                <a:latin typeface="Noto Sans CJK TC"/>
              </a:defRPr>
            </a:pPr>
            <a:r>
              <a:t>06 資料供應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7712" y="4590288"/>
            <a:ext cx="3493008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以 IB 平台股票池作起點；</a:t>
            </a:r>
          </a:p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歷史資料及一分鐘取樣框架已有。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5312" y="4590288"/>
            <a:ext cx="566928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落實證券範圍、實際歷史供應商、授權及預算；</a:t>
            </a:r>
          </a:p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提到 IB 不等於已確認全部資料由 IB 提供。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56631"/>
            <a:ext cx="11247120" cy="4617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5157216"/>
            <a:ext cx="1609344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3443"/>
                </a:solidFill>
                <a:latin typeface="Noto Sans CJK TC"/>
              </a:defRPr>
            </a:pPr>
            <a:r>
              <a:t>07 異常處理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67712" y="5079492"/>
            <a:ext cx="3493008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目前兩份逐字稿及五張原圖，</a:t>
            </a:r>
          </a:p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未找到完整指定處理政策。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25312" y="5079492"/>
            <a:ext cx="566928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補缺資料、停牌、拆股、改名、上市／退市、遲公布；</a:t>
            </a:r>
          </a:p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舊稿的工程建議不能當成會議已批准規則。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545836"/>
            <a:ext cx="11247120" cy="461772"/>
          </a:xfrm>
          <a:prstGeom prst="rect">
            <a:avLst/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5646420"/>
            <a:ext cx="1609344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3443"/>
                </a:solidFill>
                <a:latin typeface="Noto Sans CJK TC"/>
              </a:defRPr>
            </a:pPr>
            <a:r>
              <a:t>08 名單及配注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67712" y="5568696"/>
            <a:ext cx="3493008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早／午各按 RR 揀 10 隻，可重複；</a:t>
            </a:r>
          </a:p>
          <a:p>
            <a:pPr>
              <a:spcAft>
                <a:spcPts val="400"/>
              </a:spcAft>
              <a:defRPr sz="1150" b="0">
                <a:solidFill>
                  <a:srgbClr val="087C83"/>
                </a:solidFill>
                <a:latin typeface="Noto Sans CJK TC"/>
              </a:defRPr>
            </a:pPr>
            <a:r>
              <a:t>整數股數最接近 1,000 美元，可略超。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25312" y="5568696"/>
            <a:ext cx="566928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只補同分、不足候選、參考價、同距及何時重算；</a:t>
            </a:r>
          </a:p>
          <a:p>
            <a:pPr>
              <a:spcAft>
                <a:spcPts val="400"/>
              </a:spcAft>
              <a:defRPr sz="1150" b="0">
                <a:solidFill>
                  <a:srgbClr val="173443"/>
                </a:solidFill>
                <a:latin typeface="Noto Sans CJK TC"/>
              </a:defRPr>
            </a:pPr>
            <a:r>
              <a:t>前日收市後準備，不等於指定用前收市價。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E671B"/>
                </a:solidFill>
                <a:latin typeface="Noto Sans CJK TC"/>
              </a:defRPr>
            </a:pPr>
            <a:r>
              <a:t>已核對兩份逐字稿及五張原圖；01c 連結讀取遭 403 阻擋，內容尚未納入，不能視作沒有答案。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78992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87C83"/>
                </a:solidFill>
                <a:latin typeface="Noto Sans CJK TC"/>
              </a:defRPr>
            </a:pPr>
            <a:r>
              <a:t>WIN-WIN  ／  G3 模擬引擎・開工前審閱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47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3443"/>
                </a:solidFill>
                <a:latin typeface="Noto Sans CJK TC"/>
              </a:defRPr>
            </a:pPr>
            <a:r>
              <a:t>尚待落實清單（二）：執行、介面及驗收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15568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26874"/>
                </a:solidFill>
                <a:latin typeface="Noto Sans CJK TC"/>
              </a:defRPr>
            </a:pPr>
            <a:r>
              <a:t>只確認未決執行細節及交付安排；先平倉再反手、時段尾清倉等策略原則沿用現有規格。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28232"/>
            <a:ext cx="11247120" cy="13716"/>
          </a:xfrm>
          <a:prstGeom prst="rect">
            <a:avLst/>
          </a:prstGeom>
          <a:solidFill>
            <a:srgbClr val="D7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698480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6874"/>
                </a:solidFill>
                <a:latin typeface="Noto Sans CJK TC"/>
              </a:defRPr>
            </a:pPr>
            <a:r>
              <a:t>依據：v3、G3 計劃及原始來源核對｜修訂版・2026 年 10 月 29 日｜引擎尚未建成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3096"/>
            <a:ext cx="4572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87C83"/>
                </a:solidFill>
                <a:latin typeface="Noto Sans CJK TC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56231"/>
            <a:ext cx="11247120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975103"/>
            <a:ext cx="155448" cy="155448"/>
          </a:xfrm>
          <a:prstGeom prst="rect">
            <a:avLst/>
          </a:prstGeom>
          <a:solidFill>
            <a:srgbClr val="FFFFFF"/>
          </a:solidFill>
          <a:ln>
            <a:solidFill>
              <a:srgbClr val="08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47672"/>
            <a:ext cx="384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87C83"/>
                </a:solidFill>
                <a:latin typeface="Noto Sans CJK TC"/>
              </a:defRPr>
            </a:pPr>
            <a: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911095"/>
            <a:ext cx="3108960" cy="3566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73443"/>
                </a:solidFill>
                <a:latin typeface="Noto Sans CJK TC"/>
              </a:defRPr>
            </a:pPr>
            <a:r>
              <a:t>定義交易開關例外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938527"/>
            <a:ext cx="7114032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6874"/>
                </a:solidFill>
                <a:latin typeface="Noto Sans CJK TC"/>
              </a:defRPr>
            </a:pPr>
            <a:r>
              <a:t>當日／前日 RR 相等、組合分母為零或一隻候選缺資料時，整段如何處理？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39"/>
            <a:ext cx="11247120" cy="466344"/>
          </a:xfrm>
          <a:prstGeom prst="rect">
            <a:avLst/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2496311"/>
            <a:ext cx="155448" cy="155448"/>
          </a:xfrm>
          <a:prstGeom prst="rect">
            <a:avLst/>
          </a:prstGeom>
          <a:solidFill>
            <a:srgbClr val="FFFFFF"/>
          </a:solidFill>
          <a:ln>
            <a:solidFill>
              <a:srgbClr val="08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468879"/>
            <a:ext cx="384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87C83"/>
                </a:solidFill>
                <a:latin typeface="Noto Sans CJK TC"/>
              </a:defRPr>
            </a:pPr>
            <a: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432303"/>
            <a:ext cx="3108960" cy="3566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73443"/>
                </a:solidFill>
                <a:latin typeface="Noto Sans CJK TC"/>
              </a:defRPr>
            </a:pPr>
            <a:r>
              <a:t>定義時段及事件先後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459735"/>
            <a:ext cx="7114032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6874"/>
                </a:solidFill>
                <a:latin typeface="Noto Sans CJK TC"/>
              </a:defRPr>
            </a:pPr>
            <a:r>
              <a:t>區間端點歸屬、12:30 先清早市還是計午市；半日市及假期採甚麼規則？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98648"/>
            <a:ext cx="11247120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" y="3017520"/>
            <a:ext cx="155448" cy="155448"/>
          </a:xfrm>
          <a:prstGeom prst="rect">
            <a:avLst/>
          </a:prstGeom>
          <a:solidFill>
            <a:srgbClr val="FFFFFF"/>
          </a:solidFill>
          <a:ln>
            <a:solidFill>
              <a:srgbClr val="08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990088"/>
            <a:ext cx="384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87C83"/>
                </a:solidFill>
                <a:latin typeface="Noto Sans CJK TC"/>
              </a:defRPr>
            </a:pPr>
            <a: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953512"/>
            <a:ext cx="3108960" cy="3566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73443"/>
                </a:solidFill>
                <a:latin typeface="Noto Sans CJK TC"/>
              </a:defRPr>
            </a:pPr>
            <a:r>
              <a:t>批准訊號至成交模型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2980944"/>
            <a:ext cx="7114032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6874"/>
                </a:solidFill>
                <a:latin typeface="Noto Sans CJK TC"/>
              </a:defRPr>
            </a:pPr>
            <a:r>
              <a:t>訊號後何時落單／成交、用甚麼價、手續費及滑價；列明理想化假設。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19856"/>
            <a:ext cx="11247120" cy="466344"/>
          </a:xfrm>
          <a:prstGeom prst="rect">
            <a:avLst/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" y="3538727"/>
            <a:ext cx="155448" cy="155448"/>
          </a:xfrm>
          <a:prstGeom prst="rect">
            <a:avLst/>
          </a:prstGeom>
          <a:solidFill>
            <a:srgbClr val="FFFFFF"/>
          </a:solidFill>
          <a:ln>
            <a:solidFill>
              <a:srgbClr val="08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511296"/>
            <a:ext cx="384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87C83"/>
                </a:solidFill>
                <a:latin typeface="Noto Sans CJK TC"/>
              </a:defRPr>
            </a:pPr>
            <a: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474720"/>
            <a:ext cx="3108960" cy="3566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73443"/>
                </a:solidFill>
                <a:latin typeface="Noto Sans CJK TC"/>
              </a:defRPr>
            </a:pPr>
            <a:r>
              <a:t>批准時段尾清倉辦法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3502151"/>
            <a:ext cx="7114032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6874"/>
                </a:solidFill>
                <a:latin typeface="Noto Sans CJK TC"/>
              </a:defRPr>
            </a:pPr>
            <a:r>
              <a:t>16:00 後沒有下一根正常市況分鐘線；用哪種可支持的成交或估值規則？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41063"/>
            <a:ext cx="11247120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16" y="4059935"/>
            <a:ext cx="155448" cy="155448"/>
          </a:xfrm>
          <a:prstGeom prst="rect">
            <a:avLst/>
          </a:prstGeom>
          <a:solidFill>
            <a:srgbClr val="FFFFFF"/>
          </a:solidFill>
          <a:ln>
            <a:solidFill>
              <a:srgbClr val="08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032503"/>
            <a:ext cx="384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87C83"/>
                </a:solidFill>
                <a:latin typeface="Noto Sans CJK TC"/>
              </a:defRPr>
            </a:pPr>
            <a: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3995927"/>
            <a:ext cx="3108960" cy="3566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73443"/>
                </a:solidFill>
                <a:latin typeface="Noto Sans CJK TC"/>
              </a:defRPr>
            </a:pPr>
            <a:r>
              <a:t>決定執行限制的建模範圍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4023359"/>
            <a:ext cx="7114032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6874"/>
                </a:solidFill>
                <a:latin typeface="Noto Sans CJK TC"/>
              </a:defRPr>
            </a:pPr>
            <a:r>
              <a:t>借貨、購買力、拒單、部分成交、延遲及未成交單：首版建模，還是列為不支援？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62271"/>
            <a:ext cx="11247120" cy="466344"/>
          </a:xfrm>
          <a:prstGeom prst="rect">
            <a:avLst/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" y="4581143"/>
            <a:ext cx="155448" cy="155448"/>
          </a:xfrm>
          <a:prstGeom prst="rect">
            <a:avLst/>
          </a:prstGeom>
          <a:solidFill>
            <a:srgbClr val="FFFFFF"/>
          </a:solidFill>
          <a:ln>
            <a:solidFill>
              <a:srgbClr val="08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4553711"/>
            <a:ext cx="384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87C83"/>
                </a:solidFill>
                <a:latin typeface="Noto Sans CJK TC"/>
              </a:defRPr>
            </a:pPr>
            <a: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4517135"/>
            <a:ext cx="3108960" cy="3566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73443"/>
                </a:solidFill>
                <a:latin typeface="Noto Sans CJK TC"/>
              </a:defRPr>
            </a:pPr>
            <a:r>
              <a:t>批准介面及交付範圍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4544567"/>
            <a:ext cx="7114032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6874"/>
                </a:solidFill>
                <a:latin typeface="Noto Sans CJK TC"/>
              </a:defRPr>
            </a:pPr>
            <a:r>
              <a:t>命令列核心先行；瀏覽器介面另估期。確認可改欄位、比較、原因解釋及匯出。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983479"/>
            <a:ext cx="11247120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" y="5102351"/>
            <a:ext cx="155448" cy="155448"/>
          </a:xfrm>
          <a:prstGeom prst="rect">
            <a:avLst/>
          </a:prstGeom>
          <a:solidFill>
            <a:srgbClr val="FFFFFF"/>
          </a:solidFill>
          <a:ln>
            <a:solidFill>
              <a:srgbClr val="08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" y="5074919"/>
            <a:ext cx="384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87C83"/>
                </a:solidFill>
                <a:latin typeface="Noto Sans CJK TC"/>
              </a:defRPr>
            </a:pPr>
            <a: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5038343"/>
            <a:ext cx="3108960" cy="3566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73443"/>
                </a:solidFill>
                <a:latin typeface="Noto Sans CJK TC"/>
              </a:defRPr>
            </a:pPr>
            <a:r>
              <a:t>指定負責人、資源及預算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7408" y="5065775"/>
            <a:ext cx="7114032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6874"/>
                </a:solidFill>
                <a:latin typeface="Noto Sans CJK TC"/>
              </a:defRPr>
            </a:pPr>
            <a:r>
              <a:t>誰拍板規則、誰核對手算、誰驗收？確認本機／雲端、資料儲存及資源預算。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504688"/>
            <a:ext cx="11247120" cy="466344"/>
          </a:xfrm>
          <a:prstGeom prst="rect">
            <a:avLst/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5216" y="5623559"/>
            <a:ext cx="155448" cy="155448"/>
          </a:xfrm>
          <a:prstGeom prst="rect">
            <a:avLst/>
          </a:prstGeom>
          <a:solidFill>
            <a:srgbClr val="FFFFFF"/>
          </a:solidFill>
          <a:ln>
            <a:solidFill>
              <a:srgbClr val="08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" y="5596127"/>
            <a:ext cx="384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87C83"/>
                </a:solidFill>
                <a:latin typeface="Noto Sans CJK TC"/>
              </a:defRPr>
            </a:pPr>
            <a: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8448" y="5559551"/>
            <a:ext cx="3108960" cy="35661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73443"/>
                </a:solidFill>
                <a:latin typeface="Noto Sans CJK TC"/>
              </a:defRPr>
            </a:pPr>
            <a:r>
              <a:t>簽核驗收標準及版本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7408" y="5586983"/>
            <a:ext cx="7114032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6874"/>
                </a:solidFill>
                <a:latin typeface="Noto Sans CJK TC"/>
              </a:defRPr>
            </a:pPr>
            <a:r>
              <a:t>先批准手算案例；分開人造案例、歷史資料及成交真實性驗收；改規則須另存版本。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153912"/>
            <a:ext cx="10972800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E671B"/>
                </a:solidFill>
                <a:latin typeface="Noto Sans CJK TC"/>
              </a:defRPr>
            </a:pPr>
            <a:r>
              <a:t>每項均須形成可執行答案及對應測試；未決項目不可由開發者靜默補上。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78992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87C83"/>
                </a:solidFill>
                <a:latin typeface="Noto Sans CJK TC"/>
              </a:defRPr>
            </a:pPr>
            <a:r>
              <a:t>WIN-WIN  ／  G3 模擬引擎・開工前審閱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47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3443"/>
                </a:solidFill>
                <a:latin typeface="Noto Sans CJK TC"/>
              </a:defRPr>
            </a:pPr>
            <a:r>
              <a:t>限制與注意事項（一）：策略及市場資料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15568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26874"/>
                </a:solidFill>
                <a:latin typeface="Noto Sans CJK TC"/>
              </a:defRPr>
            </a:pPr>
            <a:r>
              <a:t>四項預設：20 日均值；市值 &gt;20 億美元、成交量 &gt;1,000 萬股、波幅 &gt;1.5%、股價 20–1,000 美元。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28232"/>
            <a:ext cx="11247120" cy="13716"/>
          </a:xfrm>
          <a:prstGeom prst="rect">
            <a:avLst/>
          </a:prstGeom>
          <a:solidFill>
            <a:srgbClr val="D7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698480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6874"/>
                </a:solidFill>
                <a:latin typeface="Noto Sans CJK TC"/>
              </a:defRPr>
            </a:pPr>
            <a:r>
              <a:t>依據：v3、G3 計劃及原始來源核對｜修訂版・2026 年 10 月 29 日｜引擎尚未建成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3096"/>
            <a:ext cx="4572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87C83"/>
                </a:solidFill>
                <a:latin typeface="Noto Sans CJK TC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5504688" cy="1252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993391"/>
            <a:ext cx="5212079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資料必須是「當時已知」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404872"/>
            <a:ext cx="5212079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不能用今天的成分股／修訂市值回算當年股票池。</a:t>
            </a:r>
          </a:p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須有完整回看期、公布時間、退市及公司行動紀錄。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74519"/>
            <a:ext cx="5504688" cy="1252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993391"/>
            <a:ext cx="5212079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一分鐘資料看不到逐筆先後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404872"/>
            <a:ext cx="5212079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開高低收不能判斷先升還是先跌；不可猜測分鐘內路徑。</a:t>
            </a:r>
          </a:p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不用 10:00 之後才知的價，回算較早觀察窗口。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82696"/>
            <a:ext cx="5504688" cy="1252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3401568"/>
            <a:ext cx="5212079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兩種 RR 不可混用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3813048"/>
            <a:ext cx="5212079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個股 RR＝B／(R＋1)；組合 RR＝ΣB／ΣR。</a:t>
            </a:r>
          </a:p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組合不加常數、不平均個股 RR；分母零須保留「未定義」。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282696"/>
            <a:ext cx="5504688" cy="1252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401568"/>
            <a:ext cx="5212079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名單及交易開關的粒度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813048"/>
            <a:ext cx="5212079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前日早／午市各自揀股，可有重複；預設各 10 隻。</a:t>
            </a:r>
          </a:p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當日 30 分鐘對前日完整對應時段；開關適用整份名單。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90872"/>
            <a:ext cx="5504688" cy="1252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4809744"/>
            <a:ext cx="5212079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持倉規則不可偷偷改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5221224"/>
            <a:ext cx="5212079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通過開關後仍等首事件；同向持有，不加注。</a:t>
            </a:r>
          </a:p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h＝1 先平倉再反手；無新事件亦須按規則時段尾清倉。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4690872"/>
            <a:ext cx="5504688" cy="1252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4809744"/>
            <a:ext cx="5212079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配注及可選風控須分開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5221224"/>
            <a:ext cx="5212079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整數股數最接近每股目標 1,000 美元，可略高於目標。</a:t>
            </a:r>
          </a:p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五倉上限、日損上限、止蝕等並非現行核心預設。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78992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87C83"/>
                </a:solidFill>
                <a:latin typeface="Noto Sans CJK TC"/>
              </a:defRPr>
            </a:pPr>
            <a:r>
              <a:t>WIN-WIN  ／  G3 模擬引擎・開工前審閱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471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3443"/>
                </a:solidFill>
                <a:latin typeface="Noto Sans CJK TC"/>
              </a:defRPr>
            </a:pPr>
            <a:r>
              <a:t>限制與注意事項（二）：工程、操作及交付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15568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26874"/>
                </a:solidFill>
                <a:latin typeface="Noto Sans CJK TC"/>
              </a:defRPr>
            </a:pPr>
            <a:r>
              <a:t>G3 的成功定義是「規則跑得正確、可解釋、可重播」；盈利證據及實盤能力另行驗證。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28232"/>
            <a:ext cx="11247120" cy="13716"/>
          </a:xfrm>
          <a:prstGeom prst="rect">
            <a:avLst/>
          </a:prstGeom>
          <a:solidFill>
            <a:srgbClr val="D7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698480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6874"/>
                </a:solidFill>
                <a:latin typeface="Noto Sans CJK TC"/>
              </a:defRPr>
            </a:pPr>
            <a:r>
              <a:t>依據：v3、G3 計劃及原始來源核對｜修訂版・2026 年 10 月 29 日｜引擎尚未建成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3096"/>
            <a:ext cx="4572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87C83"/>
                </a:solidFill>
                <a:latin typeface="Noto Sans CJK TC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5504688" cy="1252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993391"/>
            <a:ext cx="5212079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訊號不等於可成交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404872"/>
            <a:ext cx="5212079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若首版採理想化成交，須披露借貨、購買力及流動性限制。</a:t>
            </a:r>
          </a:p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若支援部分／延遲成交，確認平倉後才可開反向倉。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74519"/>
            <a:ext cx="5504688" cy="1252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993391"/>
            <a:ext cx="5212079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時段尾未必有可用成交價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404872"/>
            <a:ext cx="5212079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16:00 不能默認用下一分鐘或翌日成交；無可用價須報告。</a:t>
            </a:r>
          </a:p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停牌／未平持倉不可假裝已清倉；過期時段不得再開倉。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82696"/>
            <a:ext cx="5504688" cy="1252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3401568"/>
            <a:ext cx="5212079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可重現及資料保護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3813048"/>
            <a:ext cx="5212079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固定同時事件次序、精度及四捨五入；鎖定每次設定。</a:t>
            </a:r>
          </a:p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記錄資料／程式版本；輸出另存，不覆寫研究檔或存入密鑰。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282696"/>
            <a:ext cx="5504688" cy="1252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401568"/>
            <a:ext cx="5212079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本機、雲端及介面一致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813048"/>
            <a:ext cx="5212079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以同一核心及鎖定依賴運行；不可依賴原有 Mac 絕對路徑。</a:t>
            </a:r>
          </a:p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日期用紐約／香港雙時區及夏令時間；先量度資源再擴股票池。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90872"/>
            <a:ext cx="5504688" cy="1252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4809744"/>
            <a:ext cx="5212079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操作結果必須講得清楚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5221224"/>
            <a:ext cx="5212079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分開閘口不通過、未有首事件、缺資料、設定未定及執行拒絕。</a:t>
            </a:r>
          </a:p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介面改數須真正傳入引擎；提供差異、持倉／成本及逐筆匯出。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4690872"/>
            <a:ext cx="5504688" cy="1252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4809744"/>
            <a:ext cx="5212079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87C83"/>
                </a:solidFill>
                <a:latin typeface="Noto Sans CJK TC"/>
              </a:defRPr>
            </a:pPr>
            <a:r>
              <a:t>驗收與範圍不可混為一談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5221224"/>
            <a:ext cx="5212079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手算、因果、重跑及持倉現金核對全部通過。</a:t>
            </a:r>
          </a:p>
          <a:p>
            <a:pPr>
              <a:spcAft>
                <a:spcPts val="400"/>
              </a:spcAft>
              <a:defRPr sz="1300" b="0">
                <a:solidFill>
                  <a:srgbClr val="173443"/>
                </a:solidFill>
                <a:latin typeface="Noto Sans CJK TC"/>
              </a:defRPr>
            </a:pPr>
            <a:r>
              <a:t>h＝2／3、其他模式及自訂時段須先定義；G3 不含實盤。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G3 模擬引擎｜架構、路線及開工決策</dc:title>
  <dc:subject>香港繁體中文・六頁審閱簡報・按原始來源核對修訂</dc:subject>
  <dc:creator>Win-win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