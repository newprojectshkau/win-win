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建議架構，並非已建成系統。資料與設定經驗證後送入重播時鐘及策略核心；箭嘴為簡化流程。根據 docs/G3-simulator-plan.md 及三份審閱。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建議分工：策略負責人批准規則；開發者建置及測試；量化審閱者獨立核對手算；資料負責人確認授權及資料時點。可先以人造案例搭骨架，但不代表 G2 或完整歷史驗收已通過。原路線圖日期不作新承諾。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策略時間以紐約為準：前日早市 09:30–12:30、午市 12:30–16:00；當日觀察 09:30–10:00 及 12:30–13:00；初始價 10:00 及 13:00；清倉 12:30 及 16:00。端點和半日市仍待決定。B 是門檻事件數，R 是方向轉換數，h 是持倉反向確認數，三者不可混淆。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詳列約束依據：docs/G3-simulator-plan.md、docs/reviews/G3-trading-review.md、G3-engineering-review.md、G3-investor-review.md。核心四星期估算不含採購、真實券商限制、所有策略變體及完整介面。審閱屬代理分析，並非專業人士背書。程式測試通過不可代替策略負責人及獨立核對者簽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0789920" cy="25603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87C83"/>
                </a:solidFill>
                <a:latin typeface="Noto Sans CJK TC"/>
              </a:defRPr>
            </a:pPr>
            <a:r>
              <a:t>WIN-WIN  ／  G3 模擬引擎・開工前審閱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94944"/>
            <a:ext cx="11247120" cy="5029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2800" b="1">
                <a:solidFill>
                  <a:srgbClr val="173443"/>
                </a:solidFill>
                <a:latin typeface="Noto Sans CJK TC"/>
              </a:defRPr>
            </a:pPr>
            <a:r>
              <a:t>引擎架構：同一套策略核心，逐層分開驗證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155680" cy="5029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400" b="0">
                <a:solidFill>
                  <a:srgbClr val="526874"/>
                </a:solidFill>
                <a:latin typeface="Noto Sans CJK TC"/>
              </a:defRPr>
            </a:pPr>
            <a:r>
              <a:t>建議架構｜首版採離線歷史重播；雲端及本機使用相同策略邏輯。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28232"/>
            <a:ext cx="11247120" cy="13716"/>
          </a:xfrm>
          <a:prstGeom prst="rect">
            <a:avLst/>
          </a:prstGeom>
          <a:solidFill>
            <a:srgbClr val="D7E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698480" cy="21031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526874"/>
                </a:solidFill>
                <a:latin typeface="Noto Sans CJK TC"/>
              </a:defRPr>
            </a:pPr>
            <a:r>
              <a:t>依據：v3 規格、G3 修訂計劃及三份代理審閱｜審閱稿・2026 年 10 月 29 日｜引擎尚未建成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83096"/>
            <a:ext cx="4572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87C83"/>
                </a:solidFill>
                <a:latin typeface="Noto Sans CJK TC"/>
              </a:defRPr>
            </a:pPr>
            <a:r>
              <a:t>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56231"/>
            <a:ext cx="3520440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7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975103"/>
            <a:ext cx="3227832" cy="3840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087C83"/>
                </a:solidFill>
                <a:latin typeface="Noto Sans CJK TC"/>
              </a:defRPr>
            </a:pPr>
            <a:r>
              <a:t>歷史資料及交易日曆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2386584"/>
            <a:ext cx="3227832" cy="43891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173443"/>
                </a:solidFill>
                <a:latin typeface="Noto Sans CJK TC"/>
              </a:defRPr>
            </a:pPr>
            <a:r>
              <a:t>分鐘價、歷史股票池、市值、公司行動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5112" y="1856231"/>
            <a:ext cx="3520440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7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1416" y="1975103"/>
            <a:ext cx="3227832" cy="3840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087C83"/>
                </a:solidFill>
                <a:latin typeface="Noto Sans CJK TC"/>
              </a:defRPr>
            </a:pPr>
            <a:r>
              <a:t>資料驗證及重播時鐘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71416" y="2386584"/>
            <a:ext cx="3227832" cy="43891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173443"/>
                </a:solidFill>
                <a:latin typeface="Noto Sans CJK TC"/>
              </a:defRPr>
            </a:pPr>
            <a:r>
              <a:t>只釋出當時已知資料；順序固定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3024" y="1856231"/>
            <a:ext cx="3520440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7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9328" y="1975103"/>
            <a:ext cx="3227832" cy="3840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087C83"/>
                </a:solidFill>
                <a:latin typeface="Noto Sans CJK TC"/>
              </a:defRPr>
            </a:pPr>
            <a:r>
              <a:t>已批准規則及參數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9328" y="2386584"/>
            <a:ext cx="3227832" cy="43891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173443"/>
                </a:solidFill>
                <a:latin typeface="Noto Sans CJK TC"/>
              </a:defRPr>
            </a:pPr>
            <a:r>
              <a:t>驗證完整性；每次運行鎖定版本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995928" y="2368296"/>
            <a:ext cx="256032" cy="0"/>
          </a:xfrm>
          <a:prstGeom prst="line">
            <a:avLst/>
          </a:prstGeom>
          <a:ln w="25400">
            <a:solidFill>
              <a:srgbClr val="087C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hevron 17"/>
          <p:cNvSpPr/>
          <p:nvPr/>
        </p:nvSpPr>
        <p:spPr>
          <a:xfrm>
            <a:off x="4178808" y="2304288"/>
            <a:ext cx="128016" cy="128016"/>
          </a:xfrm>
          <a:prstGeom prst="chevron">
            <a:avLst/>
          </a:prstGeom>
          <a:solidFill>
            <a:srgbClr val="087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 flipH="1">
            <a:off x="7900416" y="2368296"/>
            <a:ext cx="219456" cy="0"/>
          </a:xfrm>
          <a:prstGeom prst="line">
            <a:avLst/>
          </a:prstGeom>
          <a:ln w="25400">
            <a:solidFill>
              <a:srgbClr val="087C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hevron 19"/>
          <p:cNvSpPr/>
          <p:nvPr/>
        </p:nvSpPr>
        <p:spPr>
          <a:xfrm rot="10800000">
            <a:off x="7827264" y="2304288"/>
            <a:ext cx="128016" cy="128016"/>
          </a:xfrm>
          <a:prstGeom prst="chevron">
            <a:avLst/>
          </a:prstGeom>
          <a:solidFill>
            <a:srgbClr val="087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6080760" y="2880360"/>
            <a:ext cx="0" cy="484632"/>
          </a:xfrm>
          <a:prstGeom prst="line">
            <a:avLst/>
          </a:prstGeom>
          <a:ln w="25400">
            <a:solidFill>
              <a:srgbClr val="087C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Chevron 21"/>
          <p:cNvSpPr/>
          <p:nvPr/>
        </p:nvSpPr>
        <p:spPr>
          <a:xfrm rot="5400000">
            <a:off x="6007608" y="3300984"/>
            <a:ext cx="128016" cy="128016"/>
          </a:xfrm>
          <a:prstGeom prst="chevron">
            <a:avLst/>
          </a:prstGeom>
          <a:solidFill>
            <a:srgbClr val="087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017520"/>
            <a:ext cx="54864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87C83"/>
                </a:solidFill>
                <a:latin typeface="Noto Sans CJK TC"/>
              </a:defRPr>
            </a:pPr>
            <a:r>
              <a:t>五階段策略核心　｜　不直接連接券商、網絡或介面狀態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474720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E4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611880"/>
            <a:ext cx="192024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087C83"/>
                </a:solidFill>
                <a:latin typeface="Noto Sans CJK TC"/>
              </a:defRPr>
            </a:pPr>
            <a:r>
              <a:t>① 股票池篩選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005072"/>
            <a:ext cx="192024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173443"/>
                </a:solidFill>
                <a:latin typeface="Noto Sans CJK TC"/>
              </a:defRPr>
            </a:pPr>
            <a:r>
              <a:t>過去 20 日四項條件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578608" y="3931920"/>
            <a:ext cx="128016" cy="0"/>
          </a:xfrm>
          <a:prstGeom prst="line">
            <a:avLst/>
          </a:prstGeom>
          <a:ln w="25400">
            <a:solidFill>
              <a:srgbClr val="087C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Chevron 27"/>
          <p:cNvSpPr/>
          <p:nvPr/>
        </p:nvSpPr>
        <p:spPr>
          <a:xfrm>
            <a:off x="2633472" y="3867911"/>
            <a:ext cx="128016" cy="128016"/>
          </a:xfrm>
          <a:prstGeom prst="chevron">
            <a:avLst/>
          </a:prstGeom>
          <a:solidFill>
            <a:srgbClr val="087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743200" y="3474720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E4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34640" y="3611880"/>
            <a:ext cx="192024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087C83"/>
                </a:solidFill>
                <a:latin typeface="Noto Sans CJK TC"/>
              </a:defRPr>
            </a:pPr>
            <a:r>
              <a:t>② 分時段揀股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34640" y="4005072"/>
            <a:ext cx="192024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173443"/>
                </a:solidFill>
                <a:latin typeface="Noto Sans CJK TC"/>
              </a:defRPr>
            </a:pPr>
            <a:r>
              <a:t>前日早／午市獨立排名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864608" y="3931920"/>
            <a:ext cx="128016" cy="0"/>
          </a:xfrm>
          <a:prstGeom prst="line">
            <a:avLst/>
          </a:prstGeom>
          <a:ln w="25400">
            <a:solidFill>
              <a:srgbClr val="087C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Chevron 32"/>
          <p:cNvSpPr/>
          <p:nvPr/>
        </p:nvSpPr>
        <p:spPr>
          <a:xfrm>
            <a:off x="4919472" y="3867911"/>
            <a:ext cx="128016" cy="128016"/>
          </a:xfrm>
          <a:prstGeom prst="chevron">
            <a:avLst/>
          </a:prstGeom>
          <a:solidFill>
            <a:srgbClr val="087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029200" y="3474720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E4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20640" y="3611880"/>
            <a:ext cx="192024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087C83"/>
                </a:solidFill>
                <a:latin typeface="Noto Sans CJK TC"/>
              </a:defRPr>
            </a:pPr>
            <a:r>
              <a:t>③ 配注及組合值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0640" y="4005072"/>
            <a:ext cx="192024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173443"/>
                </a:solidFill>
                <a:latin typeface="Noto Sans CJK TC"/>
              </a:defRPr>
            </a:pPr>
            <a:r>
              <a:t>整數股數；組合 RR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150608" y="3931920"/>
            <a:ext cx="128016" cy="0"/>
          </a:xfrm>
          <a:prstGeom prst="line">
            <a:avLst/>
          </a:prstGeom>
          <a:ln w="25400">
            <a:solidFill>
              <a:srgbClr val="087C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Chevron 37"/>
          <p:cNvSpPr/>
          <p:nvPr/>
        </p:nvSpPr>
        <p:spPr>
          <a:xfrm>
            <a:off x="7205472" y="3867911"/>
            <a:ext cx="128016" cy="128016"/>
          </a:xfrm>
          <a:prstGeom prst="chevron">
            <a:avLst/>
          </a:prstGeom>
          <a:solidFill>
            <a:srgbClr val="087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15200" y="3474720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E4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06640" y="3611880"/>
            <a:ext cx="192024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087C83"/>
                </a:solidFill>
                <a:latin typeface="Noto Sans CJK TC"/>
              </a:defRPr>
            </a:pPr>
            <a:r>
              <a:t>④ 整段交易開關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06640" y="4005072"/>
            <a:ext cx="192024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173443"/>
                </a:solidFill>
                <a:latin typeface="Noto Sans CJK TC"/>
              </a:defRPr>
            </a:pPr>
            <a:r>
              <a:t>當日觀察對前日基準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436608" y="3931920"/>
            <a:ext cx="128016" cy="0"/>
          </a:xfrm>
          <a:prstGeom prst="line">
            <a:avLst/>
          </a:prstGeom>
          <a:ln w="25400">
            <a:solidFill>
              <a:srgbClr val="087C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Chevron 42"/>
          <p:cNvSpPr/>
          <p:nvPr/>
        </p:nvSpPr>
        <p:spPr>
          <a:xfrm>
            <a:off x="9491472" y="3867911"/>
            <a:ext cx="128016" cy="128016"/>
          </a:xfrm>
          <a:prstGeom prst="chevron">
            <a:avLst/>
          </a:prstGeom>
          <a:solidFill>
            <a:srgbClr val="087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601200" y="3474720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E4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92640" y="3611880"/>
            <a:ext cx="192024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087C83"/>
                </a:solidFill>
                <a:latin typeface="Noto Sans CJK TC"/>
              </a:defRPr>
            </a:pPr>
            <a:r>
              <a:t>⑤ 逐股持倉狀態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2640" y="4005072"/>
            <a:ext cx="192024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173443"/>
                </a:solidFill>
                <a:latin typeface="Noto Sans CJK TC"/>
              </a:defRPr>
            </a:pPr>
            <a:r>
              <a:t>等首訊號、持有、反手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652760" y="4407408"/>
            <a:ext cx="0" cy="137160"/>
          </a:xfrm>
          <a:prstGeom prst="line">
            <a:avLst/>
          </a:prstGeom>
          <a:ln w="19050">
            <a:solidFill>
              <a:srgbClr val="087C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2194560" y="4544568"/>
            <a:ext cx="8458200" cy="0"/>
          </a:xfrm>
          <a:prstGeom prst="line">
            <a:avLst/>
          </a:prstGeom>
          <a:ln w="19050">
            <a:solidFill>
              <a:srgbClr val="087C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194560" y="4544568"/>
            <a:ext cx="0" cy="118872"/>
          </a:xfrm>
          <a:prstGeom prst="line">
            <a:avLst/>
          </a:prstGeom>
          <a:ln w="25400">
            <a:solidFill>
              <a:srgbClr val="087C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Chevron 49"/>
          <p:cNvSpPr/>
          <p:nvPr/>
        </p:nvSpPr>
        <p:spPr>
          <a:xfrm rot="5400000">
            <a:off x="2121408" y="4599431"/>
            <a:ext cx="128016" cy="128016"/>
          </a:xfrm>
          <a:prstGeom prst="chevron">
            <a:avLst/>
          </a:prstGeom>
          <a:solidFill>
            <a:srgbClr val="087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3995928" y="5276088"/>
            <a:ext cx="256032" cy="0"/>
          </a:xfrm>
          <a:prstGeom prst="line">
            <a:avLst/>
          </a:prstGeom>
          <a:ln w="25400">
            <a:solidFill>
              <a:srgbClr val="087C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Chevron 51"/>
          <p:cNvSpPr/>
          <p:nvPr/>
        </p:nvSpPr>
        <p:spPr>
          <a:xfrm>
            <a:off x="4178808" y="5212079"/>
            <a:ext cx="128016" cy="128016"/>
          </a:xfrm>
          <a:prstGeom prst="chevron">
            <a:avLst/>
          </a:prstGeom>
          <a:solidFill>
            <a:srgbClr val="087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7863840" y="5276088"/>
            <a:ext cx="256032" cy="0"/>
          </a:xfrm>
          <a:prstGeom prst="line">
            <a:avLst/>
          </a:prstGeom>
          <a:ln w="25400">
            <a:solidFill>
              <a:srgbClr val="087C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Chevron 53"/>
          <p:cNvSpPr/>
          <p:nvPr/>
        </p:nvSpPr>
        <p:spPr>
          <a:xfrm>
            <a:off x="8046720" y="5212079"/>
            <a:ext cx="128016" cy="128016"/>
          </a:xfrm>
          <a:prstGeom prst="chevron">
            <a:avLst/>
          </a:prstGeom>
          <a:solidFill>
            <a:srgbClr val="087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457200" y="4709160"/>
            <a:ext cx="352044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7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3504" y="4828032"/>
            <a:ext cx="3227832" cy="3840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087C83"/>
                </a:solidFill>
                <a:latin typeface="Noto Sans CJK TC"/>
              </a:defRPr>
            </a:pPr>
            <a:r>
              <a:t>模擬成交層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03504" y="5239512"/>
            <a:ext cx="3227832" cy="57607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173443"/>
                </a:solidFill>
                <a:latin typeface="Noto Sans CJK TC"/>
              </a:defRPr>
            </a:pPr>
            <a:r>
              <a:t>訊號 → 訂單意圖 → 成交 → 持倉</a:t>
            </a:r>
          </a:p>
          <a:p>
            <a:pPr>
              <a:spcAft>
                <a:spcPts val="400"/>
              </a:spcAft>
              <a:defRPr sz="1200" b="0">
                <a:solidFill>
                  <a:srgbClr val="173443"/>
                </a:solidFill>
                <a:latin typeface="Noto Sans CJK TC"/>
              </a:defRPr>
            </a:pPr>
            <a:r>
              <a:t>首版理想化；限制及成本須列明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325112" y="4709160"/>
            <a:ext cx="352044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7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471416" y="4828032"/>
            <a:ext cx="3227832" cy="3840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087C83"/>
                </a:solidFill>
                <a:latin typeface="Noto Sans CJK TC"/>
              </a:defRPr>
            </a:pPr>
            <a:r>
              <a:t>核對及追溯層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71416" y="5239512"/>
            <a:ext cx="3227832" cy="57607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173443"/>
                </a:solidFill>
                <a:latin typeface="Noto Sans CJK TC"/>
              </a:defRPr>
            </a:pPr>
            <a:r>
              <a:t>五階段輸出、逐筆紀錄、現金／持倉</a:t>
            </a:r>
          </a:p>
          <a:p>
            <a:pPr>
              <a:spcAft>
                <a:spcPts val="400"/>
              </a:spcAft>
              <a:defRPr sz="1200" b="0">
                <a:solidFill>
                  <a:srgbClr val="173443"/>
                </a:solidFill>
                <a:latin typeface="Noto Sans CJK TC"/>
              </a:defRPr>
            </a:pPr>
            <a:r>
              <a:t>鎖定資料、規則及程式版本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193024" y="4709160"/>
            <a:ext cx="352044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7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339328" y="4828032"/>
            <a:ext cx="3227832" cy="3840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087C83"/>
                </a:solidFill>
                <a:latin typeface="Noto Sans CJK TC"/>
              </a:defRPr>
            </a:pPr>
            <a:r>
              <a:t>建議瀏覽器審閱介面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39328" y="5239512"/>
            <a:ext cx="3227832" cy="57607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173443"/>
                </a:solidFill>
                <a:latin typeface="Noto Sans CJK TC"/>
              </a:defRPr>
            </a:pPr>
            <a:r>
              <a:t>設定 → 核對 → 重播 → 比較／匯出</a:t>
            </a:r>
          </a:p>
          <a:p>
            <a:pPr>
              <a:spcAft>
                <a:spcPts val="400"/>
              </a:spcAft>
              <a:defRPr sz="1200" b="0">
                <a:solidFill>
                  <a:srgbClr val="173443"/>
                </a:solidFill>
                <a:latin typeface="Noto Sans CJK TC"/>
              </a:defRPr>
            </a:pPr>
            <a:r>
              <a:t>介面另估工期；不含實盤落盤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0352" y="6044184"/>
            <a:ext cx="1106424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526874"/>
                </a:solidFill>
                <a:latin typeface="Noto Sans CJK TC"/>
              </a:defRPr>
            </a:pPr>
            <a:r>
              <a:t>核心產生決策，由模擬層回報成交；所有層保留追溯紀錄。券商接駁及實盤屬後續階段。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0789920" cy="25603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87C83"/>
                </a:solidFill>
                <a:latin typeface="Noto Sans CJK TC"/>
              </a:defRPr>
            </a:pPr>
            <a:r>
              <a:t>WIN-WIN  ／  G3 模擬引擎・開工前審閱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94944"/>
            <a:ext cx="11247120" cy="5029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2800" b="1">
                <a:solidFill>
                  <a:srgbClr val="173443"/>
                </a:solidFill>
                <a:latin typeface="Noto Sans CJK TC"/>
              </a:defRPr>
            </a:pPr>
            <a:r>
              <a:t>完成路線：先定規則及資料，再驗證模擬器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155680" cy="5029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400" b="0">
                <a:solidFill>
                  <a:srgbClr val="526874"/>
                </a:solidFill>
                <a:latin typeface="Noto Sans CJK TC"/>
              </a:defRPr>
            </a:pPr>
            <a:r>
              <a:t>目前位置：規格及審閱文件已齊；G1／G2 的待定規則與歷史資料仍須落實。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28232"/>
            <a:ext cx="11247120" cy="13716"/>
          </a:xfrm>
          <a:prstGeom prst="rect">
            <a:avLst/>
          </a:prstGeom>
          <a:solidFill>
            <a:srgbClr val="D7E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698480" cy="21031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526874"/>
                </a:solidFill>
                <a:latin typeface="Noto Sans CJK TC"/>
              </a:defRPr>
            </a:pPr>
            <a:r>
              <a:t>依據：v3 規格、G3 修訂計劃及三份代理審閱｜審閱稿・2026 年 10 月 29 日｜引擎尚未建成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83096"/>
            <a:ext cx="4572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87C83"/>
                </a:solidFill>
                <a:latin typeface="Noto Sans CJK TC"/>
              </a:defRPr>
            </a:pPr>
            <a: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103120"/>
            <a:ext cx="2103120" cy="187451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7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240280"/>
            <a:ext cx="1828800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087C83"/>
                </a:solidFill>
                <a:latin typeface="Noto Sans CJK TC"/>
              </a:defRPr>
            </a:pPr>
            <a:r>
              <a:t>G1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724912"/>
            <a:ext cx="182880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73443"/>
                </a:solidFill>
                <a:latin typeface="Noto Sans CJK TC"/>
              </a:defRPr>
            </a:pPr>
            <a:r>
              <a:t>規則定稿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264408"/>
            <a:ext cx="1828800" cy="56692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300" b="0">
                <a:solidFill>
                  <a:srgbClr val="526874"/>
                </a:solidFill>
                <a:latin typeface="Noto Sans CJK TC"/>
              </a:defRPr>
            </a:pPr>
            <a:r>
              <a:t>決策清單逐項拍板</a:t>
            </a:r>
          </a:p>
          <a:p>
            <a:pPr>
              <a:spcAft>
                <a:spcPts val="400"/>
              </a:spcAft>
              <a:defRPr sz="1300" b="0">
                <a:solidFill>
                  <a:srgbClr val="526874"/>
                </a:solidFill>
                <a:latin typeface="Noto Sans CJK TC"/>
              </a:defRPr>
            </a:pPr>
            <a:r>
              <a:t>獨立手算標準答案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78608" y="2971800"/>
            <a:ext cx="128016" cy="0"/>
          </a:xfrm>
          <a:prstGeom prst="line">
            <a:avLst/>
          </a:prstGeom>
          <a:ln w="25400">
            <a:solidFill>
              <a:srgbClr val="087C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hevron 12"/>
          <p:cNvSpPr/>
          <p:nvPr/>
        </p:nvSpPr>
        <p:spPr>
          <a:xfrm>
            <a:off x="2633472" y="2907792"/>
            <a:ext cx="128016" cy="128016"/>
          </a:xfrm>
          <a:prstGeom prst="chevron">
            <a:avLst/>
          </a:prstGeom>
          <a:solidFill>
            <a:srgbClr val="087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0" y="2103120"/>
            <a:ext cx="2103120" cy="187451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7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80360" y="2240280"/>
            <a:ext cx="1828800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087C83"/>
                </a:solidFill>
                <a:latin typeface="Noto Sans CJK TC"/>
              </a:defRPr>
            </a:pPr>
            <a:r>
              <a:t>G2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2724912"/>
            <a:ext cx="182880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73443"/>
                </a:solidFill>
                <a:latin typeface="Noto Sans CJK TC"/>
              </a:defRPr>
            </a:pPr>
            <a:r>
              <a:t>資料就緒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3264408"/>
            <a:ext cx="1828800" cy="56692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300" b="0">
                <a:solidFill>
                  <a:srgbClr val="526874"/>
                </a:solidFill>
                <a:latin typeface="Noto Sans CJK TC"/>
              </a:defRPr>
            </a:pPr>
            <a:r>
              <a:t>前日及完整回看期</a:t>
            </a:r>
          </a:p>
          <a:p>
            <a:pPr>
              <a:spcAft>
                <a:spcPts val="400"/>
              </a:spcAft>
              <a:defRPr sz="1300" b="0">
                <a:solidFill>
                  <a:srgbClr val="526874"/>
                </a:solidFill>
                <a:latin typeface="Noto Sans CJK TC"/>
              </a:defRPr>
            </a:pPr>
            <a:r>
              <a:t>時點、授權及缺漏核對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864608" y="2971800"/>
            <a:ext cx="128016" cy="0"/>
          </a:xfrm>
          <a:prstGeom prst="line">
            <a:avLst/>
          </a:prstGeom>
          <a:ln w="25400">
            <a:solidFill>
              <a:srgbClr val="087C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hevron 18"/>
          <p:cNvSpPr/>
          <p:nvPr/>
        </p:nvSpPr>
        <p:spPr>
          <a:xfrm>
            <a:off x="4919472" y="2907792"/>
            <a:ext cx="128016" cy="128016"/>
          </a:xfrm>
          <a:prstGeom prst="chevron">
            <a:avLst/>
          </a:prstGeom>
          <a:solidFill>
            <a:srgbClr val="087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0" y="2103120"/>
            <a:ext cx="2103120" cy="187451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7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66360" y="2240280"/>
            <a:ext cx="1828800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087C83"/>
                </a:solidFill>
                <a:latin typeface="Noto Sans CJK TC"/>
              </a:defRPr>
            </a:pPr>
            <a:r>
              <a:t>G3・甲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2724912"/>
            <a:ext cx="182880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73443"/>
                </a:solidFill>
                <a:latin typeface="Noto Sans CJK TC"/>
              </a:defRPr>
            </a:pPr>
            <a:r>
              <a:t>重播及階段①–③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66360" y="3264408"/>
            <a:ext cx="1828800" cy="56692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300" b="0">
                <a:solidFill>
                  <a:srgbClr val="526874"/>
                </a:solidFill>
                <a:latin typeface="Noto Sans CJK TC"/>
              </a:defRPr>
            </a:pPr>
            <a:r>
              <a:t>時鐘、Renko 計數</a:t>
            </a:r>
          </a:p>
          <a:p>
            <a:pPr>
              <a:spcAft>
                <a:spcPts val="400"/>
              </a:spcAft>
              <a:defRPr sz="1300" b="0">
                <a:solidFill>
                  <a:srgbClr val="526874"/>
                </a:solidFill>
                <a:latin typeface="Noto Sans CJK TC"/>
              </a:defRPr>
            </a:pPr>
            <a:r>
              <a:t>股票池、排名、配注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150608" y="2971800"/>
            <a:ext cx="128016" cy="0"/>
          </a:xfrm>
          <a:prstGeom prst="line">
            <a:avLst/>
          </a:prstGeom>
          <a:ln w="25400">
            <a:solidFill>
              <a:srgbClr val="087C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Chevron 24"/>
          <p:cNvSpPr/>
          <p:nvPr/>
        </p:nvSpPr>
        <p:spPr>
          <a:xfrm>
            <a:off x="7205472" y="2907792"/>
            <a:ext cx="128016" cy="128016"/>
          </a:xfrm>
          <a:prstGeom prst="chevron">
            <a:avLst/>
          </a:prstGeom>
          <a:solidFill>
            <a:srgbClr val="087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15200" y="2103120"/>
            <a:ext cx="2103120" cy="187451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7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52360" y="2240280"/>
            <a:ext cx="1828800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087C83"/>
                </a:solidFill>
                <a:latin typeface="Noto Sans CJK TC"/>
              </a:defRPr>
            </a:pPr>
            <a:r>
              <a:t>G3・乙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360" y="2724912"/>
            <a:ext cx="182880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73443"/>
                </a:solidFill>
                <a:latin typeface="Noto Sans CJK TC"/>
              </a:defRPr>
            </a:pPr>
            <a:r>
              <a:t>階段④–⑤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2360" y="3264408"/>
            <a:ext cx="1828800" cy="56692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300" b="0">
                <a:solidFill>
                  <a:srgbClr val="526874"/>
                </a:solidFill>
                <a:latin typeface="Noto Sans CJK TC"/>
              </a:defRPr>
            </a:pPr>
            <a:r>
              <a:t>整段開關、逐股狀態</a:t>
            </a:r>
          </a:p>
          <a:p>
            <a:pPr>
              <a:spcAft>
                <a:spcPts val="400"/>
              </a:spcAft>
              <a:defRPr sz="1300" b="0">
                <a:solidFill>
                  <a:srgbClr val="526874"/>
                </a:solidFill>
                <a:latin typeface="Noto Sans CJK TC"/>
              </a:defRPr>
            </a:pPr>
            <a:r>
              <a:t>成交模型及追溯紀錄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436608" y="2971800"/>
            <a:ext cx="128016" cy="0"/>
          </a:xfrm>
          <a:prstGeom prst="line">
            <a:avLst/>
          </a:prstGeom>
          <a:ln w="25400">
            <a:solidFill>
              <a:srgbClr val="087C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Chevron 30"/>
          <p:cNvSpPr/>
          <p:nvPr/>
        </p:nvSpPr>
        <p:spPr>
          <a:xfrm>
            <a:off x="9491472" y="2907792"/>
            <a:ext cx="128016" cy="128016"/>
          </a:xfrm>
          <a:prstGeom prst="chevron">
            <a:avLst/>
          </a:prstGeom>
          <a:solidFill>
            <a:srgbClr val="087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601200" y="2103120"/>
            <a:ext cx="2103120" cy="187451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7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38360" y="2240280"/>
            <a:ext cx="1828800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087C83"/>
                </a:solidFill>
                <a:latin typeface="Noto Sans CJK TC"/>
              </a:defRPr>
            </a:pPr>
            <a:r>
              <a:t>G3・驗收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38360" y="2724912"/>
            <a:ext cx="182880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73443"/>
                </a:solidFill>
                <a:latin typeface="Noto Sans CJK TC"/>
              </a:defRPr>
            </a:pPr>
            <a:r>
              <a:t>正確性通過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38360" y="3264408"/>
            <a:ext cx="1828800" cy="56692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300" b="0">
                <a:solidFill>
                  <a:srgbClr val="526874"/>
                </a:solidFill>
                <a:latin typeface="Noto Sans CJK TC"/>
              </a:defRPr>
            </a:pPr>
            <a:r>
              <a:t>手算一致、可重現</a:t>
            </a:r>
          </a:p>
          <a:p>
            <a:pPr>
              <a:spcAft>
                <a:spcPts val="400"/>
              </a:spcAft>
              <a:defRPr sz="1300" b="0">
                <a:solidFill>
                  <a:srgbClr val="526874"/>
                </a:solidFill>
                <a:latin typeface="Noto Sans CJK TC"/>
              </a:defRPr>
            </a:pPr>
            <a:r>
              <a:t>無偷用未來資料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4206240"/>
            <a:ext cx="10972800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087C83"/>
                </a:solidFill>
                <a:latin typeface="Noto Sans CJK TC"/>
              </a:defRPr>
            </a:pPr>
            <a:r>
              <a:t>其後關卡（不屬今次 G3 建置範圍）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81728"/>
            <a:ext cx="2697480" cy="576072"/>
          </a:xfrm>
          <a:prstGeom prst="roundRect">
            <a:avLst>
              <a:gd name="adj" fmla="val 12000"/>
            </a:avLst>
          </a:prstGeom>
          <a:solidFill>
            <a:srgbClr val="E4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4846320"/>
            <a:ext cx="25146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73443"/>
                </a:solidFill>
                <a:latin typeface="Noto Sans CJK TC"/>
              </a:defRPr>
            </a:pPr>
            <a:r>
              <a:t>G4　盈利、成本及回撤驗證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310128" y="4681728"/>
            <a:ext cx="2697480" cy="576072"/>
          </a:xfrm>
          <a:prstGeom prst="roundRect">
            <a:avLst>
              <a:gd name="adj" fmla="val 12000"/>
            </a:avLst>
          </a:prstGeom>
          <a:solidFill>
            <a:srgbClr val="E4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01568" y="4846320"/>
            <a:ext cx="25146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73443"/>
                </a:solidFill>
                <a:latin typeface="Noto Sans CJK TC"/>
              </a:defRPr>
            </a:pPr>
            <a:r>
              <a:t>G5　真實引擎及券商接駁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63056" y="4681728"/>
            <a:ext cx="2697480" cy="576072"/>
          </a:xfrm>
          <a:prstGeom prst="roundRect">
            <a:avLst>
              <a:gd name="adj" fmla="val 12000"/>
            </a:avLst>
          </a:prstGeom>
          <a:solidFill>
            <a:srgbClr val="E4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54496" y="4846320"/>
            <a:ext cx="25146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73443"/>
                </a:solidFill>
                <a:latin typeface="Noto Sans CJK TC"/>
              </a:defRPr>
            </a:pPr>
            <a:r>
              <a:t>G6　模擬賬戶交易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015984" y="4681728"/>
            <a:ext cx="2697480" cy="576072"/>
          </a:xfrm>
          <a:prstGeom prst="roundRect">
            <a:avLst>
              <a:gd name="adj" fmla="val 12000"/>
            </a:avLst>
          </a:prstGeom>
          <a:solidFill>
            <a:srgbClr val="E4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07424" y="4846320"/>
            <a:ext cx="25146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73443"/>
                </a:solidFill>
                <a:latin typeface="Noto Sans CJK TC"/>
              </a:defRPr>
            </a:pPr>
            <a:r>
              <a:t>G7–G8　小額實盤及加倉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513832"/>
            <a:ext cx="11247120" cy="685800"/>
          </a:xfrm>
          <a:prstGeom prst="roundRect">
            <a:avLst>
              <a:gd name="adj" fmla="val 12000"/>
            </a:avLst>
          </a:prstGeom>
          <a:solidFill>
            <a:srgbClr val="1734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5623560"/>
            <a:ext cx="2468880" cy="420624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FFFFFF"/>
                </a:solidFill>
                <a:latin typeface="Noto Sans CJK TC"/>
              </a:defRPr>
            </a:pPr>
            <a:r>
              <a:t>核心暫估四個開發星期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08960" y="5641848"/>
            <a:ext cx="8321040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400" b="0">
                <a:solidFill>
                  <a:srgbClr val="FFFFFF"/>
                </a:solidFill>
                <a:latin typeface="Noto Sans CJK TC"/>
              </a:defRPr>
            </a:pPr>
            <a:r>
              <a:t>規則及資料到位後起計；不含資料採購、真實券商限制及完整介面。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0789920" cy="25603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87C83"/>
                </a:solidFill>
                <a:latin typeface="Noto Sans CJK TC"/>
              </a:defRPr>
            </a:pPr>
            <a:r>
              <a:t>WIN-WIN  ／  G3 模擬引擎・開工前審閱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94944"/>
            <a:ext cx="11247120" cy="5029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2800" b="1">
                <a:solidFill>
                  <a:srgbClr val="173443"/>
                </a:solidFill>
                <a:latin typeface="Noto Sans CJK TC"/>
              </a:defRPr>
            </a:pPr>
            <a:r>
              <a:t>開工前清單（一）：資料及訊號定義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155680" cy="5029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400" b="0">
                <a:solidFill>
                  <a:srgbClr val="526874"/>
                </a:solidFill>
                <a:latin typeface="Noto Sans CJK TC"/>
              </a:defRPr>
            </a:pPr>
            <a:r>
              <a:t>逐項記錄選項、決定、負責人及日期；已有規格不需要重新推翻。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28232"/>
            <a:ext cx="11247120" cy="13716"/>
          </a:xfrm>
          <a:prstGeom prst="rect">
            <a:avLst/>
          </a:prstGeom>
          <a:solidFill>
            <a:srgbClr val="D7E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698480" cy="21031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526874"/>
                </a:solidFill>
                <a:latin typeface="Noto Sans CJK TC"/>
              </a:defRPr>
            </a:pPr>
            <a:r>
              <a:t>依據：v3 規格、G3 修訂計劃及三份代理審閱｜審閱稿・2026 年 10 月 29 日｜引擎尚未建成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83096"/>
            <a:ext cx="4572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87C83"/>
                </a:solidFill>
                <a:latin typeface="Noto Sans CJK TC"/>
              </a:defRPr>
            </a:pPr>
            <a: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56231"/>
            <a:ext cx="11247120" cy="4663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85216" y="1975103"/>
            <a:ext cx="155448" cy="155448"/>
          </a:xfrm>
          <a:prstGeom prst="rect">
            <a:avLst/>
          </a:prstGeom>
          <a:solidFill>
            <a:srgbClr val="FFFFFF"/>
          </a:solidFill>
          <a:ln>
            <a:solidFill>
              <a:srgbClr val="087C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947672"/>
            <a:ext cx="384048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87C83"/>
                </a:solidFill>
                <a:latin typeface="Noto Sans CJK TC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1911095"/>
            <a:ext cx="3108960" cy="356616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173443"/>
                </a:solidFill>
                <a:latin typeface="Noto Sans CJK TC"/>
              </a:defRPr>
            </a:pPr>
            <a:r>
              <a:t>批准首版範圍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1938527"/>
            <a:ext cx="7114032" cy="33832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526874"/>
                </a:solidFill>
                <a:latin typeface="Noto Sans CJK TC"/>
              </a:defRPr>
            </a:pPr>
            <a:r>
              <a:t>確認 h＝1、早／午市、可開關交易閘；先選一種已定義的 Renko 模式。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377439"/>
            <a:ext cx="11247120" cy="466344"/>
          </a:xfrm>
          <a:prstGeom prst="rect">
            <a:avLst/>
          </a:prstGeom>
          <a:solidFill>
            <a:srgbClr val="E4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5216" y="2496311"/>
            <a:ext cx="155448" cy="155448"/>
          </a:xfrm>
          <a:prstGeom prst="rect">
            <a:avLst/>
          </a:prstGeom>
          <a:solidFill>
            <a:srgbClr val="FFFFFF"/>
          </a:solidFill>
          <a:ln>
            <a:solidFill>
              <a:srgbClr val="087C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2468879"/>
            <a:ext cx="384048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87C83"/>
                </a:solidFill>
                <a:latin typeface="Noto Sans CJK TC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2432303"/>
            <a:ext cx="3108960" cy="356616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173443"/>
                </a:solidFill>
                <a:latin typeface="Noto Sans CJK TC"/>
              </a:defRPr>
            </a:pPr>
            <a:r>
              <a:t>定義每分鐘用價及時間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2459735"/>
            <a:ext cx="7114032" cy="33832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526874"/>
                </a:solidFill>
                <a:latin typeface="Noto Sans CJK TC"/>
              </a:defRPr>
            </a:pPr>
            <a:r>
              <a:t>用開市／收市／其他價？資料何時才可用？10:00 初始價如何取得？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898648"/>
            <a:ext cx="11247120" cy="4663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85216" y="3017520"/>
            <a:ext cx="155448" cy="155448"/>
          </a:xfrm>
          <a:prstGeom prst="rect">
            <a:avLst/>
          </a:prstGeom>
          <a:solidFill>
            <a:srgbClr val="FFFFFF"/>
          </a:solidFill>
          <a:ln>
            <a:solidFill>
              <a:srgbClr val="087C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" y="2990088"/>
            <a:ext cx="384048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87C83"/>
                </a:solidFill>
                <a:latin typeface="Noto Sans CJK TC"/>
              </a:defRPr>
            </a:pPr>
            <a: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98448" y="2953512"/>
            <a:ext cx="3108960" cy="356616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173443"/>
                </a:solidFill>
                <a:latin typeface="Noto Sans CJK TC"/>
              </a:defRPr>
            </a:pPr>
            <a:r>
              <a:t>定義 Renko 門檻及錨點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2980944"/>
            <a:ext cx="7114032" cy="33832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526874"/>
                </a:solidFill>
                <a:latin typeface="Noto Sans CJK TC"/>
              </a:defRPr>
            </a:pPr>
            <a:r>
              <a:t>美元參考價、後續錨點、重設時點；剛好達標是否計入；百分比是否複利？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419856"/>
            <a:ext cx="11247120" cy="466344"/>
          </a:xfrm>
          <a:prstGeom prst="rect">
            <a:avLst/>
          </a:prstGeom>
          <a:solidFill>
            <a:srgbClr val="E4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85216" y="3538727"/>
            <a:ext cx="155448" cy="155448"/>
          </a:xfrm>
          <a:prstGeom prst="rect">
            <a:avLst/>
          </a:prstGeom>
          <a:solidFill>
            <a:srgbClr val="FFFFFF"/>
          </a:solidFill>
          <a:ln>
            <a:solidFill>
              <a:srgbClr val="087C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0392" y="3511296"/>
            <a:ext cx="384048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87C83"/>
                </a:solidFill>
                <a:latin typeface="Noto Sans CJK TC"/>
              </a:defRPr>
            </a:pPr>
            <a: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98448" y="3474720"/>
            <a:ext cx="3108960" cy="356616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173443"/>
                </a:solidFill>
                <a:latin typeface="Noto Sans CJK TC"/>
              </a:defRPr>
            </a:pPr>
            <a:r>
              <a:t>定義 B／R 及跨門檻計數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7408" y="3502151"/>
            <a:ext cx="7114032" cy="33832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526874"/>
                </a:solidFill>
                <a:latin typeface="Noto Sans CJK TC"/>
              </a:defRPr>
            </a:pPr>
            <a:r>
              <a:t>一分鐘跨多級計幾次？首事件、方向轉換及同分鐘可產生幾次交易動作？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941063"/>
            <a:ext cx="11247120" cy="4663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85216" y="4059935"/>
            <a:ext cx="155448" cy="155448"/>
          </a:xfrm>
          <a:prstGeom prst="rect">
            <a:avLst/>
          </a:prstGeom>
          <a:solidFill>
            <a:srgbClr val="FFFFFF"/>
          </a:solidFill>
          <a:ln>
            <a:solidFill>
              <a:srgbClr val="087C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0392" y="4032503"/>
            <a:ext cx="384048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87C83"/>
                </a:solidFill>
                <a:latin typeface="Noto Sans CJK TC"/>
              </a:defRPr>
            </a:pPr>
            <a: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98448" y="3995927"/>
            <a:ext cx="3108960" cy="356616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173443"/>
                </a:solidFill>
                <a:latin typeface="Noto Sans CJK TC"/>
              </a:defRPr>
            </a:pPr>
            <a:r>
              <a:t>定義股票池四項計算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7408" y="4023359"/>
            <a:ext cx="7114032" cy="33832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526874"/>
                </a:solidFill>
                <a:latin typeface="Noto Sans CJK TC"/>
              </a:defRPr>
            </a:pPr>
            <a:r>
              <a:t>20 日是交易日還是曆日？平均股價用甚麼價？波幅百分比分母用甚麼？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462271"/>
            <a:ext cx="11247120" cy="466344"/>
          </a:xfrm>
          <a:prstGeom prst="rect">
            <a:avLst/>
          </a:prstGeom>
          <a:solidFill>
            <a:srgbClr val="E4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85216" y="4581143"/>
            <a:ext cx="155448" cy="155448"/>
          </a:xfrm>
          <a:prstGeom prst="rect">
            <a:avLst/>
          </a:prstGeom>
          <a:solidFill>
            <a:srgbClr val="FFFFFF"/>
          </a:solidFill>
          <a:ln>
            <a:solidFill>
              <a:srgbClr val="087C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0392" y="4553711"/>
            <a:ext cx="384048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87C83"/>
                </a:solidFill>
                <a:latin typeface="Noto Sans CJK TC"/>
              </a:defRPr>
            </a:pPr>
            <a: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8448" y="4517135"/>
            <a:ext cx="3108960" cy="356616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173443"/>
                </a:solidFill>
                <a:latin typeface="Noto Sans CJK TC"/>
              </a:defRPr>
            </a:pPr>
            <a:r>
              <a:t>確認股票池及資料供應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4544567"/>
            <a:ext cx="7114032" cy="33832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526874"/>
                </a:solidFill>
                <a:latin typeface="Noto Sans CJK TC"/>
              </a:defRPr>
            </a:pPr>
            <a:r>
              <a:t>可交易證券範圍、歷史市值／分鐘線來源、授權、資料預算及保留方式。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983479"/>
            <a:ext cx="11247120" cy="4663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85216" y="5102351"/>
            <a:ext cx="155448" cy="155448"/>
          </a:xfrm>
          <a:prstGeom prst="rect">
            <a:avLst/>
          </a:prstGeom>
          <a:solidFill>
            <a:srgbClr val="FFFFFF"/>
          </a:solidFill>
          <a:ln>
            <a:solidFill>
              <a:srgbClr val="087C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0392" y="5074919"/>
            <a:ext cx="384048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87C83"/>
                </a:solidFill>
                <a:latin typeface="Noto Sans CJK TC"/>
              </a:defRPr>
            </a:pPr>
            <a:r>
              <a:t>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98448" y="5038343"/>
            <a:ext cx="3108960" cy="356616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173443"/>
                </a:solidFill>
                <a:latin typeface="Noto Sans CJK TC"/>
              </a:defRPr>
            </a:pPr>
            <a:r>
              <a:t>定義異常及公司行動處理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07408" y="5065775"/>
            <a:ext cx="7114032" cy="33832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526874"/>
                </a:solidFill>
                <a:latin typeface="Noto Sans CJK TC"/>
              </a:defRPr>
            </a:pPr>
            <a:r>
              <a:t>缺分鐘、停牌、拆股、改名、新上市／退市、回看期不足及資料遲公布怎樣處理？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5504688"/>
            <a:ext cx="11247120" cy="466344"/>
          </a:xfrm>
          <a:prstGeom prst="rect">
            <a:avLst/>
          </a:prstGeom>
          <a:solidFill>
            <a:srgbClr val="E4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85216" y="5623559"/>
            <a:ext cx="155448" cy="155448"/>
          </a:xfrm>
          <a:prstGeom prst="rect">
            <a:avLst/>
          </a:prstGeom>
          <a:solidFill>
            <a:srgbClr val="FFFFFF"/>
          </a:solidFill>
          <a:ln>
            <a:solidFill>
              <a:srgbClr val="087C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0392" y="5596127"/>
            <a:ext cx="384048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87C83"/>
                </a:solidFill>
                <a:latin typeface="Noto Sans CJK TC"/>
              </a:defRPr>
            </a:pPr>
            <a:r>
              <a:t>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98448" y="5559551"/>
            <a:ext cx="3108960" cy="356616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173443"/>
                </a:solidFill>
                <a:latin typeface="Noto Sans CJK TC"/>
              </a:defRPr>
            </a:pPr>
            <a:r>
              <a:t>定義名單及配注細則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07408" y="5586983"/>
            <a:ext cx="7114032" cy="33832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526874"/>
                </a:solidFill>
                <a:latin typeface="Noto Sans CJK TC"/>
              </a:defRPr>
            </a:pPr>
            <a:r>
              <a:t>同分排名、候選不足；股數參考價、最接近金額同距離及何時重算。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153912"/>
            <a:ext cx="10972800" cy="21031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AE671B"/>
                </a:solidFill>
                <a:latin typeface="Noto Sans CJK TC"/>
              </a:defRPr>
            </a:pPr>
            <a:r>
              <a:t>每項均須形成可執行答案及對應測試；未決項目不可由開發者靜默補上。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0789920" cy="25603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87C83"/>
                </a:solidFill>
                <a:latin typeface="Noto Sans CJK TC"/>
              </a:defRPr>
            </a:pPr>
            <a:r>
              <a:t>WIN-WIN  ／  G3 模擬引擎・開工前審閱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94944"/>
            <a:ext cx="11247120" cy="5029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2800" b="1">
                <a:solidFill>
                  <a:srgbClr val="173443"/>
                </a:solidFill>
                <a:latin typeface="Noto Sans CJK TC"/>
              </a:defRPr>
            </a:pPr>
            <a:r>
              <a:t>開工前清單（二）：執行、介面及驗收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155680" cy="5029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400" b="0">
                <a:solidFill>
                  <a:srgbClr val="526874"/>
                </a:solidFill>
                <a:latin typeface="Noto Sans CJK TC"/>
              </a:defRPr>
            </a:pPr>
            <a:r>
              <a:t>未拍板的相關功能須封鎖；可先建共用骨架，不能以預設假設冒充正式策略。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28232"/>
            <a:ext cx="11247120" cy="13716"/>
          </a:xfrm>
          <a:prstGeom prst="rect">
            <a:avLst/>
          </a:prstGeom>
          <a:solidFill>
            <a:srgbClr val="D7E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698480" cy="21031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526874"/>
                </a:solidFill>
                <a:latin typeface="Noto Sans CJK TC"/>
              </a:defRPr>
            </a:pPr>
            <a:r>
              <a:t>依據：v3 規格、G3 修訂計劃及三份代理審閱｜審閱稿・2026 年 10 月 29 日｜引擎尚未建成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83096"/>
            <a:ext cx="4572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87C83"/>
                </a:solidFill>
                <a:latin typeface="Noto Sans CJK TC"/>
              </a:defRPr>
            </a:pPr>
            <a: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56231"/>
            <a:ext cx="11247120" cy="4663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85216" y="1975103"/>
            <a:ext cx="155448" cy="155448"/>
          </a:xfrm>
          <a:prstGeom prst="rect">
            <a:avLst/>
          </a:prstGeom>
          <a:solidFill>
            <a:srgbClr val="FFFFFF"/>
          </a:solidFill>
          <a:ln>
            <a:solidFill>
              <a:srgbClr val="087C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947672"/>
            <a:ext cx="384048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87C83"/>
                </a:solidFill>
                <a:latin typeface="Noto Sans CJK TC"/>
              </a:defRPr>
            </a:pPr>
            <a:r>
              <a:t>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1911095"/>
            <a:ext cx="3108960" cy="356616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173443"/>
                </a:solidFill>
                <a:latin typeface="Noto Sans CJK TC"/>
              </a:defRPr>
            </a:pPr>
            <a:r>
              <a:t>定義交易開關例外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1938527"/>
            <a:ext cx="7114032" cy="33832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526874"/>
                </a:solidFill>
                <a:latin typeface="Noto Sans CJK TC"/>
              </a:defRPr>
            </a:pPr>
            <a:r>
              <a:t>當日／前日 RR 相等、組合分母為零或一隻候選缺資料時，整段如何處理？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377439"/>
            <a:ext cx="11247120" cy="466344"/>
          </a:xfrm>
          <a:prstGeom prst="rect">
            <a:avLst/>
          </a:prstGeom>
          <a:solidFill>
            <a:srgbClr val="E4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5216" y="2496311"/>
            <a:ext cx="155448" cy="155448"/>
          </a:xfrm>
          <a:prstGeom prst="rect">
            <a:avLst/>
          </a:prstGeom>
          <a:solidFill>
            <a:srgbClr val="FFFFFF"/>
          </a:solidFill>
          <a:ln>
            <a:solidFill>
              <a:srgbClr val="087C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2468879"/>
            <a:ext cx="384048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87C83"/>
                </a:solidFill>
                <a:latin typeface="Noto Sans CJK TC"/>
              </a:defRPr>
            </a:pPr>
            <a: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2432303"/>
            <a:ext cx="3108960" cy="356616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173443"/>
                </a:solidFill>
                <a:latin typeface="Noto Sans CJK TC"/>
              </a:defRPr>
            </a:pPr>
            <a:r>
              <a:t>定義時段及事件先後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2459735"/>
            <a:ext cx="7114032" cy="33832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526874"/>
                </a:solidFill>
                <a:latin typeface="Noto Sans CJK TC"/>
              </a:defRPr>
            </a:pPr>
            <a:r>
              <a:t>區間端點歸屬、12:30 先清早市還是計午市；半日市及假期採甚麼規則？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898648"/>
            <a:ext cx="11247120" cy="4663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85216" y="3017520"/>
            <a:ext cx="155448" cy="155448"/>
          </a:xfrm>
          <a:prstGeom prst="rect">
            <a:avLst/>
          </a:prstGeom>
          <a:solidFill>
            <a:srgbClr val="FFFFFF"/>
          </a:solidFill>
          <a:ln>
            <a:solidFill>
              <a:srgbClr val="087C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" y="2990088"/>
            <a:ext cx="384048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87C83"/>
                </a:solidFill>
                <a:latin typeface="Noto Sans CJK TC"/>
              </a:defRPr>
            </a:pPr>
            <a:r>
              <a:t>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98448" y="2953512"/>
            <a:ext cx="3108960" cy="356616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173443"/>
                </a:solidFill>
                <a:latin typeface="Noto Sans CJK TC"/>
              </a:defRPr>
            </a:pPr>
            <a:r>
              <a:t>批准訊號至成交模型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2980944"/>
            <a:ext cx="7114032" cy="33832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526874"/>
                </a:solidFill>
                <a:latin typeface="Noto Sans CJK TC"/>
              </a:defRPr>
            </a:pPr>
            <a:r>
              <a:t>訊號後何時落單／成交、用甚麼價、手續費及滑價；列明理想化假設。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419856"/>
            <a:ext cx="11247120" cy="466344"/>
          </a:xfrm>
          <a:prstGeom prst="rect">
            <a:avLst/>
          </a:prstGeom>
          <a:solidFill>
            <a:srgbClr val="E4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85216" y="3538727"/>
            <a:ext cx="155448" cy="155448"/>
          </a:xfrm>
          <a:prstGeom prst="rect">
            <a:avLst/>
          </a:prstGeom>
          <a:solidFill>
            <a:srgbClr val="FFFFFF"/>
          </a:solidFill>
          <a:ln>
            <a:solidFill>
              <a:srgbClr val="087C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0392" y="3511296"/>
            <a:ext cx="384048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87C83"/>
                </a:solidFill>
                <a:latin typeface="Noto Sans CJK TC"/>
              </a:defRPr>
            </a:pPr>
            <a:r>
              <a:t>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98448" y="3474720"/>
            <a:ext cx="3108960" cy="356616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173443"/>
                </a:solidFill>
                <a:latin typeface="Noto Sans CJK TC"/>
              </a:defRPr>
            </a:pPr>
            <a:r>
              <a:t>批准時段尾清倉辦法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7408" y="3502151"/>
            <a:ext cx="7114032" cy="33832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526874"/>
                </a:solidFill>
                <a:latin typeface="Noto Sans CJK TC"/>
              </a:defRPr>
            </a:pPr>
            <a:r>
              <a:t>16:00 後沒有下一根正常市況分鐘線；用哪種可支持的成交或估值規則？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941063"/>
            <a:ext cx="11247120" cy="4663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85216" y="4059935"/>
            <a:ext cx="155448" cy="155448"/>
          </a:xfrm>
          <a:prstGeom prst="rect">
            <a:avLst/>
          </a:prstGeom>
          <a:solidFill>
            <a:srgbClr val="FFFFFF"/>
          </a:solidFill>
          <a:ln>
            <a:solidFill>
              <a:srgbClr val="087C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0392" y="4032503"/>
            <a:ext cx="384048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87C83"/>
                </a:solidFill>
                <a:latin typeface="Noto Sans CJK TC"/>
              </a:defRPr>
            </a:pPr>
            <a:r>
              <a:t>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98448" y="3995927"/>
            <a:ext cx="3108960" cy="356616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173443"/>
                </a:solidFill>
                <a:latin typeface="Noto Sans CJK TC"/>
              </a:defRPr>
            </a:pPr>
            <a:r>
              <a:t>決定執行限制的建模範圍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7408" y="4023359"/>
            <a:ext cx="7114032" cy="33832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526874"/>
                </a:solidFill>
                <a:latin typeface="Noto Sans CJK TC"/>
              </a:defRPr>
            </a:pPr>
            <a:r>
              <a:t>借貨、購買力、拒單、部分成交、延遲及未成交單：首版建模，還是列為不支援？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462271"/>
            <a:ext cx="11247120" cy="466344"/>
          </a:xfrm>
          <a:prstGeom prst="rect">
            <a:avLst/>
          </a:prstGeom>
          <a:solidFill>
            <a:srgbClr val="E4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85216" y="4581143"/>
            <a:ext cx="155448" cy="155448"/>
          </a:xfrm>
          <a:prstGeom prst="rect">
            <a:avLst/>
          </a:prstGeom>
          <a:solidFill>
            <a:srgbClr val="FFFFFF"/>
          </a:solidFill>
          <a:ln>
            <a:solidFill>
              <a:srgbClr val="087C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0392" y="4553711"/>
            <a:ext cx="384048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87C83"/>
                </a:solidFill>
                <a:latin typeface="Noto Sans CJK TC"/>
              </a:defRPr>
            </a:pPr>
            <a:r>
              <a:t>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8448" y="4517135"/>
            <a:ext cx="3108960" cy="356616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173443"/>
                </a:solidFill>
                <a:latin typeface="Noto Sans CJK TC"/>
              </a:defRPr>
            </a:pPr>
            <a:r>
              <a:t>批准介面及交付範圍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4544567"/>
            <a:ext cx="7114032" cy="33832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526874"/>
                </a:solidFill>
                <a:latin typeface="Noto Sans CJK TC"/>
              </a:defRPr>
            </a:pPr>
            <a:r>
              <a:t>命令列核心先行；瀏覽器介面另估期。確認可改欄位、比較、原因解釋及匯出。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983479"/>
            <a:ext cx="11247120" cy="4663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85216" y="5102351"/>
            <a:ext cx="155448" cy="155448"/>
          </a:xfrm>
          <a:prstGeom prst="rect">
            <a:avLst/>
          </a:prstGeom>
          <a:solidFill>
            <a:srgbClr val="FFFFFF"/>
          </a:solidFill>
          <a:ln>
            <a:solidFill>
              <a:srgbClr val="087C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0392" y="5074919"/>
            <a:ext cx="384048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87C83"/>
                </a:solidFill>
                <a:latin typeface="Noto Sans CJK TC"/>
              </a:defRPr>
            </a:pPr>
            <a: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98448" y="5038343"/>
            <a:ext cx="3108960" cy="356616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173443"/>
                </a:solidFill>
                <a:latin typeface="Noto Sans CJK TC"/>
              </a:defRPr>
            </a:pPr>
            <a:r>
              <a:t>指定負責人、資源及預算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07408" y="5065775"/>
            <a:ext cx="7114032" cy="33832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526874"/>
                </a:solidFill>
                <a:latin typeface="Noto Sans CJK TC"/>
              </a:defRPr>
            </a:pPr>
            <a:r>
              <a:t>誰拍板規則、誰核對手算、誰驗收？確認本機／雲端、資料儲存及資源預算。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5504688"/>
            <a:ext cx="11247120" cy="466344"/>
          </a:xfrm>
          <a:prstGeom prst="rect">
            <a:avLst/>
          </a:prstGeom>
          <a:solidFill>
            <a:srgbClr val="E4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85216" y="5623559"/>
            <a:ext cx="155448" cy="155448"/>
          </a:xfrm>
          <a:prstGeom prst="rect">
            <a:avLst/>
          </a:prstGeom>
          <a:solidFill>
            <a:srgbClr val="FFFFFF"/>
          </a:solidFill>
          <a:ln>
            <a:solidFill>
              <a:srgbClr val="087C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0392" y="5596127"/>
            <a:ext cx="384048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87C83"/>
                </a:solidFill>
                <a:latin typeface="Noto Sans CJK TC"/>
              </a:defRPr>
            </a:pPr>
            <a:r>
              <a:t>16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98448" y="5559551"/>
            <a:ext cx="3108960" cy="356616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173443"/>
                </a:solidFill>
                <a:latin typeface="Noto Sans CJK TC"/>
              </a:defRPr>
            </a:pPr>
            <a:r>
              <a:t>簽核驗收標準及版本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07408" y="5586983"/>
            <a:ext cx="7114032" cy="33832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526874"/>
                </a:solidFill>
                <a:latin typeface="Noto Sans CJK TC"/>
              </a:defRPr>
            </a:pPr>
            <a:r>
              <a:t>先批准手算案例；分開人造案例、歷史資料及成交真實性驗收；改規則須另存版本。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153912"/>
            <a:ext cx="10972800" cy="21031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AE671B"/>
                </a:solidFill>
                <a:latin typeface="Noto Sans CJK TC"/>
              </a:defRPr>
            </a:pPr>
            <a:r>
              <a:t>每項均須形成可執行答案及對應測試；未決項目不可由開發者靜默補上。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0789920" cy="25603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87C83"/>
                </a:solidFill>
                <a:latin typeface="Noto Sans CJK TC"/>
              </a:defRPr>
            </a:pPr>
            <a:r>
              <a:t>WIN-WIN  ／  G3 模擬引擎・開工前審閱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94944"/>
            <a:ext cx="11247120" cy="5029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2800" b="1">
                <a:solidFill>
                  <a:srgbClr val="173443"/>
                </a:solidFill>
                <a:latin typeface="Noto Sans CJK TC"/>
              </a:defRPr>
            </a:pPr>
            <a:r>
              <a:t>限制與注意事項（一）：策略及市場資料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155680" cy="5029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400" b="0">
                <a:solidFill>
                  <a:srgbClr val="526874"/>
                </a:solidFill>
                <a:latin typeface="Noto Sans CJK TC"/>
              </a:defRPr>
            </a:pPr>
            <a:r>
              <a:t>四項預設：20 日均值；市值 &gt;20 億美元、成交量 &gt;1,000 萬股、波幅 &gt;1.5%、股價 20–1,000 美元。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28232"/>
            <a:ext cx="11247120" cy="13716"/>
          </a:xfrm>
          <a:prstGeom prst="rect">
            <a:avLst/>
          </a:prstGeom>
          <a:solidFill>
            <a:srgbClr val="D7E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698480" cy="21031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526874"/>
                </a:solidFill>
                <a:latin typeface="Noto Sans CJK TC"/>
              </a:defRPr>
            </a:pPr>
            <a:r>
              <a:t>依據：v3 規格、G3 修訂計劃及三份代理審閱｜審閱稿・2026 年 10 月 29 日｜引擎尚未建成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83096"/>
            <a:ext cx="4572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87C83"/>
                </a:solidFill>
                <a:latin typeface="Noto Sans CJK TC"/>
              </a:defRPr>
            </a:pPr>
            <a: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74519"/>
            <a:ext cx="5504688" cy="12527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7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993391"/>
            <a:ext cx="5212079" cy="3840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087C83"/>
                </a:solidFill>
                <a:latin typeface="Noto Sans CJK TC"/>
              </a:defRPr>
            </a:pPr>
            <a:r>
              <a:t>資料必須是「當時已知」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2404872"/>
            <a:ext cx="5212079" cy="6858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300" b="0">
                <a:solidFill>
                  <a:srgbClr val="173443"/>
                </a:solidFill>
                <a:latin typeface="Noto Sans CJK TC"/>
              </a:defRPr>
            </a:pPr>
            <a:r>
              <a:t>不能用今天的成分股／修訂市值回算當年股票池。</a:t>
            </a:r>
          </a:p>
          <a:p>
            <a:pPr>
              <a:spcAft>
                <a:spcPts val="400"/>
              </a:spcAft>
              <a:defRPr sz="1300" b="0">
                <a:solidFill>
                  <a:srgbClr val="173443"/>
                </a:solidFill>
                <a:latin typeface="Noto Sans CJK TC"/>
              </a:defRPr>
            </a:pPr>
            <a:r>
              <a:t>須有完整回看期、公布時間、退市及公司行動紀錄。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874519"/>
            <a:ext cx="5504688" cy="12527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7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5936" y="1993391"/>
            <a:ext cx="5212079" cy="3840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087C83"/>
                </a:solidFill>
                <a:latin typeface="Noto Sans CJK TC"/>
              </a:defRPr>
            </a:pPr>
            <a:r>
              <a:t>一分鐘資料看不到逐筆先後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5936" y="2404872"/>
            <a:ext cx="5212079" cy="6858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300" b="0">
                <a:solidFill>
                  <a:srgbClr val="173443"/>
                </a:solidFill>
                <a:latin typeface="Noto Sans CJK TC"/>
              </a:defRPr>
            </a:pPr>
            <a:r>
              <a:t>開高低收不能判斷先升還是先跌；不可猜測分鐘內路徑。</a:t>
            </a:r>
          </a:p>
          <a:p>
            <a:pPr>
              <a:spcAft>
                <a:spcPts val="400"/>
              </a:spcAft>
              <a:defRPr sz="1300" b="0">
                <a:solidFill>
                  <a:srgbClr val="173443"/>
                </a:solidFill>
                <a:latin typeface="Noto Sans CJK TC"/>
              </a:defRPr>
            </a:pPr>
            <a:r>
              <a:t>不用 10:00 之後才知的價，回算較早觀察窗口。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282696"/>
            <a:ext cx="5504688" cy="12527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7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" y="3401568"/>
            <a:ext cx="5212079" cy="3840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087C83"/>
                </a:solidFill>
                <a:latin typeface="Noto Sans CJK TC"/>
              </a:defRPr>
            </a:pPr>
            <a:r>
              <a:t>兩種 RR 不可混用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" y="3813048"/>
            <a:ext cx="5212079" cy="6858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300" b="0">
                <a:solidFill>
                  <a:srgbClr val="173443"/>
                </a:solidFill>
                <a:latin typeface="Noto Sans CJK TC"/>
              </a:defRPr>
            </a:pPr>
            <a:r>
              <a:t>個股 RR＝B／(R＋1)；組合 RR＝ΣB／ΣR。</a:t>
            </a:r>
          </a:p>
          <a:p>
            <a:pPr>
              <a:spcAft>
                <a:spcPts val="400"/>
              </a:spcAft>
              <a:defRPr sz="1300" b="0">
                <a:solidFill>
                  <a:srgbClr val="173443"/>
                </a:solidFill>
                <a:latin typeface="Noto Sans CJK TC"/>
              </a:defRPr>
            </a:pPr>
            <a:r>
              <a:t>組合不加常數、不平均個股 RR；分母零須保留「未定義」。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3282696"/>
            <a:ext cx="5504688" cy="12527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7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5936" y="3401568"/>
            <a:ext cx="5212079" cy="3840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087C83"/>
                </a:solidFill>
                <a:latin typeface="Noto Sans CJK TC"/>
              </a:defRPr>
            </a:pPr>
            <a:r>
              <a:t>名單及交易開關的粒度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3813048"/>
            <a:ext cx="5212079" cy="6858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300" b="0">
                <a:solidFill>
                  <a:srgbClr val="173443"/>
                </a:solidFill>
                <a:latin typeface="Noto Sans CJK TC"/>
              </a:defRPr>
            </a:pPr>
            <a:r>
              <a:t>前日早／午市各自揀股，可有重複；預設各 10 隻。</a:t>
            </a:r>
          </a:p>
          <a:p>
            <a:pPr>
              <a:spcAft>
                <a:spcPts val="400"/>
              </a:spcAft>
              <a:defRPr sz="1300" b="0">
                <a:solidFill>
                  <a:srgbClr val="173443"/>
                </a:solidFill>
                <a:latin typeface="Noto Sans CJK TC"/>
              </a:defRPr>
            </a:pPr>
            <a:r>
              <a:t>當日 30 分鐘對前日完整對應時段；開關適用整份名單。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690872"/>
            <a:ext cx="5504688" cy="12527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7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4809744"/>
            <a:ext cx="5212079" cy="3840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087C83"/>
                </a:solidFill>
                <a:latin typeface="Noto Sans CJK TC"/>
              </a:defRPr>
            </a:pPr>
            <a:r>
              <a:t>持倉規則不可偷偷改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" y="5221224"/>
            <a:ext cx="5212079" cy="6858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300" b="0">
                <a:solidFill>
                  <a:srgbClr val="173443"/>
                </a:solidFill>
                <a:latin typeface="Noto Sans CJK TC"/>
              </a:defRPr>
            </a:pPr>
            <a:r>
              <a:t>通過開關後仍等首事件；同向持有，不加注。</a:t>
            </a:r>
          </a:p>
          <a:p>
            <a:pPr>
              <a:spcAft>
                <a:spcPts val="400"/>
              </a:spcAft>
              <a:defRPr sz="1300" b="0">
                <a:solidFill>
                  <a:srgbClr val="173443"/>
                </a:solidFill>
                <a:latin typeface="Noto Sans CJK TC"/>
              </a:defRPr>
            </a:pPr>
            <a:r>
              <a:t>h＝1 先平倉再反手；無新事件亦須按規則時段尾清倉。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9632" y="4690872"/>
            <a:ext cx="5504688" cy="12527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7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4809744"/>
            <a:ext cx="5212079" cy="3840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087C83"/>
                </a:solidFill>
                <a:latin typeface="Noto Sans CJK TC"/>
              </a:defRPr>
            </a:pPr>
            <a:r>
              <a:t>配注及可選風控須分開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5221224"/>
            <a:ext cx="5212079" cy="6858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300" b="0">
                <a:solidFill>
                  <a:srgbClr val="173443"/>
                </a:solidFill>
                <a:latin typeface="Noto Sans CJK TC"/>
              </a:defRPr>
            </a:pPr>
            <a:r>
              <a:t>整數股數最接近每股目標 1,000 美元，可略高於目標。</a:t>
            </a:r>
          </a:p>
          <a:p>
            <a:pPr>
              <a:spcAft>
                <a:spcPts val="400"/>
              </a:spcAft>
              <a:defRPr sz="1300" b="0">
                <a:solidFill>
                  <a:srgbClr val="173443"/>
                </a:solidFill>
                <a:latin typeface="Noto Sans CJK TC"/>
              </a:defRPr>
            </a:pPr>
            <a:r>
              <a:t>五倉上限、日損上限、止蝕等並非現行核心預設。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0789920" cy="25603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87C83"/>
                </a:solidFill>
                <a:latin typeface="Noto Sans CJK TC"/>
              </a:defRPr>
            </a:pPr>
            <a:r>
              <a:t>WIN-WIN  ／  G3 模擬引擎・開工前審閱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94944"/>
            <a:ext cx="11247120" cy="5029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2800" b="1">
                <a:solidFill>
                  <a:srgbClr val="173443"/>
                </a:solidFill>
                <a:latin typeface="Noto Sans CJK TC"/>
              </a:defRPr>
            </a:pPr>
            <a:r>
              <a:t>限制與注意事項（二）：工程、操作及交付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155680" cy="5029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400" b="0">
                <a:solidFill>
                  <a:srgbClr val="526874"/>
                </a:solidFill>
                <a:latin typeface="Noto Sans CJK TC"/>
              </a:defRPr>
            </a:pPr>
            <a:r>
              <a:t>G3 的成功定義是「規則跑得正確、可解釋、可重播」；盈利證據及實盤能力另行驗證。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28232"/>
            <a:ext cx="11247120" cy="13716"/>
          </a:xfrm>
          <a:prstGeom prst="rect">
            <a:avLst/>
          </a:prstGeom>
          <a:solidFill>
            <a:srgbClr val="D7E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698480" cy="21031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526874"/>
                </a:solidFill>
                <a:latin typeface="Noto Sans CJK TC"/>
              </a:defRPr>
            </a:pPr>
            <a:r>
              <a:t>依據：v3 規格、G3 修訂計劃及三份代理審閱｜審閱稿・2026 年 10 月 29 日｜引擎尚未建成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83096"/>
            <a:ext cx="4572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87C83"/>
                </a:solidFill>
                <a:latin typeface="Noto Sans CJK TC"/>
              </a:defRPr>
            </a:pPr>
            <a: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74519"/>
            <a:ext cx="5504688" cy="12527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7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993391"/>
            <a:ext cx="5212079" cy="3840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087C83"/>
                </a:solidFill>
                <a:latin typeface="Noto Sans CJK TC"/>
              </a:defRPr>
            </a:pPr>
            <a:r>
              <a:t>訊號不等於可成交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2404872"/>
            <a:ext cx="5212079" cy="6858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300" b="0">
                <a:solidFill>
                  <a:srgbClr val="173443"/>
                </a:solidFill>
                <a:latin typeface="Noto Sans CJK TC"/>
              </a:defRPr>
            </a:pPr>
            <a:r>
              <a:t>首版理想化成交須披露借貨、購買力及流動性限制。</a:t>
            </a:r>
          </a:p>
          <a:p>
            <a:pPr>
              <a:spcAft>
                <a:spcPts val="400"/>
              </a:spcAft>
              <a:defRPr sz="1300" b="0">
                <a:solidFill>
                  <a:srgbClr val="173443"/>
                </a:solidFill>
                <a:latin typeface="Noto Sans CJK TC"/>
              </a:defRPr>
            </a:pPr>
            <a:r>
              <a:t>若支援部分／延遲成交，確認平倉後才可開反向倉。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874519"/>
            <a:ext cx="5504688" cy="12527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7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5936" y="1993391"/>
            <a:ext cx="5212079" cy="3840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087C83"/>
                </a:solidFill>
                <a:latin typeface="Noto Sans CJK TC"/>
              </a:defRPr>
            </a:pPr>
            <a:r>
              <a:t>時段尾未必有可用成交價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5936" y="2404872"/>
            <a:ext cx="5212079" cy="6858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300" b="0">
                <a:solidFill>
                  <a:srgbClr val="173443"/>
                </a:solidFill>
                <a:latin typeface="Noto Sans CJK TC"/>
              </a:defRPr>
            </a:pPr>
            <a:r>
              <a:t>16:00 不能默認用下一分鐘或翌日成交；無可用價須報告。</a:t>
            </a:r>
          </a:p>
          <a:p>
            <a:pPr>
              <a:spcAft>
                <a:spcPts val="400"/>
              </a:spcAft>
              <a:defRPr sz="1300" b="0">
                <a:solidFill>
                  <a:srgbClr val="173443"/>
                </a:solidFill>
                <a:latin typeface="Noto Sans CJK TC"/>
              </a:defRPr>
            </a:pPr>
            <a:r>
              <a:t>停牌／未平持倉不可假裝已清倉；過期時段不得再開倉。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282696"/>
            <a:ext cx="5504688" cy="12527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7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" y="3401568"/>
            <a:ext cx="5212079" cy="3840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087C83"/>
                </a:solidFill>
                <a:latin typeface="Noto Sans CJK TC"/>
              </a:defRPr>
            </a:pPr>
            <a:r>
              <a:t>可重現及資料保護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" y="3813048"/>
            <a:ext cx="5212079" cy="6858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300" b="0">
                <a:solidFill>
                  <a:srgbClr val="173443"/>
                </a:solidFill>
                <a:latin typeface="Noto Sans CJK TC"/>
              </a:defRPr>
            </a:pPr>
            <a:r>
              <a:t>固定同時事件次序、精度及四捨五入；鎖定每次設定。</a:t>
            </a:r>
          </a:p>
          <a:p>
            <a:pPr>
              <a:spcAft>
                <a:spcPts val="400"/>
              </a:spcAft>
              <a:defRPr sz="1300" b="0">
                <a:solidFill>
                  <a:srgbClr val="173443"/>
                </a:solidFill>
                <a:latin typeface="Noto Sans CJK TC"/>
              </a:defRPr>
            </a:pPr>
            <a:r>
              <a:t>記錄資料／程式版本；輸出另存，不覆寫研究檔或存入密鑰。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3282696"/>
            <a:ext cx="5504688" cy="12527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7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5936" y="3401568"/>
            <a:ext cx="5212079" cy="3840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087C83"/>
                </a:solidFill>
                <a:latin typeface="Noto Sans CJK TC"/>
              </a:defRPr>
            </a:pPr>
            <a:r>
              <a:t>本機、雲端及介面一致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3813048"/>
            <a:ext cx="5212079" cy="6858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300" b="0">
                <a:solidFill>
                  <a:srgbClr val="173443"/>
                </a:solidFill>
                <a:latin typeface="Noto Sans CJK TC"/>
              </a:defRPr>
            </a:pPr>
            <a:r>
              <a:t>以同一核心及鎖定依賴運行；不可依賴原有 Mac 絕對路徑。</a:t>
            </a:r>
          </a:p>
          <a:p>
            <a:pPr>
              <a:spcAft>
                <a:spcPts val="400"/>
              </a:spcAft>
              <a:defRPr sz="1300" b="0">
                <a:solidFill>
                  <a:srgbClr val="173443"/>
                </a:solidFill>
                <a:latin typeface="Noto Sans CJK TC"/>
              </a:defRPr>
            </a:pPr>
            <a:r>
              <a:t>日期用紐約／香港雙時區及夏令時間；先量度資源再擴股票池。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690872"/>
            <a:ext cx="5504688" cy="12527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7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4809744"/>
            <a:ext cx="5212079" cy="3840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087C83"/>
                </a:solidFill>
                <a:latin typeface="Noto Sans CJK TC"/>
              </a:defRPr>
            </a:pPr>
            <a:r>
              <a:t>操作結果必須講得清楚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" y="5221224"/>
            <a:ext cx="5212079" cy="6858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300" b="0">
                <a:solidFill>
                  <a:srgbClr val="173443"/>
                </a:solidFill>
                <a:latin typeface="Noto Sans CJK TC"/>
              </a:defRPr>
            </a:pPr>
            <a:r>
              <a:t>分開閘口不通過、未有首事件、缺資料、設定未定及執行拒絕。</a:t>
            </a:r>
          </a:p>
          <a:p>
            <a:pPr>
              <a:spcAft>
                <a:spcPts val="400"/>
              </a:spcAft>
              <a:defRPr sz="1300" b="0">
                <a:solidFill>
                  <a:srgbClr val="173443"/>
                </a:solidFill>
                <a:latin typeface="Noto Sans CJK TC"/>
              </a:defRPr>
            </a:pPr>
            <a:r>
              <a:t>介面改數須真正傳入引擎；提供差異、持倉／成本及逐筆匯出。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9632" y="4690872"/>
            <a:ext cx="5504688" cy="12527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7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4809744"/>
            <a:ext cx="5212079" cy="3840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087C83"/>
                </a:solidFill>
                <a:latin typeface="Noto Sans CJK TC"/>
              </a:defRPr>
            </a:pPr>
            <a:r>
              <a:t>驗收與範圍不可混為一談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5221224"/>
            <a:ext cx="5212079" cy="6858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  <a:defRPr sz="1300" b="0">
                <a:solidFill>
                  <a:srgbClr val="173443"/>
                </a:solidFill>
                <a:latin typeface="Noto Sans CJK TC"/>
              </a:defRPr>
            </a:pPr>
            <a:r>
              <a:t>手算、因果、重跑及持倉現金核對全部通過。</a:t>
            </a:r>
          </a:p>
          <a:p>
            <a:pPr>
              <a:spcAft>
                <a:spcPts val="400"/>
              </a:spcAft>
              <a:defRPr sz="1300" b="0">
                <a:solidFill>
                  <a:srgbClr val="173443"/>
                </a:solidFill>
                <a:latin typeface="Noto Sans CJK TC"/>
              </a:defRPr>
            </a:pPr>
            <a:r>
              <a:t>h＝2／3、其他模式及自訂時段須先定義；G3 不含實盤。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G3 模擬引擎｜架構、路線及開工決策</dc:title>
  <dc:subject>香港繁體中文・六頁審閱簡報</dc:subject>
  <dc:creator>Win-win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